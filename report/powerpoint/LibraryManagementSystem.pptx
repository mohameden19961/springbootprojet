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7ADDF03-1E9E-4A18-9DF9-AB48FA3D191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C82A67-6EBF-4C7F-9139-FB2D7E3B09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62BE02-9AC8-4C5C-80F4-9AF3591154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A9DCC7-9BA2-42F9-87AB-7DE2D38FC3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9D4038-E424-4403-BB41-073B094FD0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1164ED-975D-4E63-8313-0940EA5ACF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C233E2-557B-423B-8CD9-683BA64FEE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C71D41-8CEA-4DA2-AEBB-E7AB2FE145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7EA76C-1AA7-4AE3-88D1-5F3A82AB25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599B00-8701-49B4-BD02-2EF4085CCA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A6EA60-0F08-4426-BF47-E49565E5C0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70C9D3-C539-4630-8451-7AB819AA54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336774-88BD-4D39-B2AE-18E6220ECD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EA9707-A698-4EDB-A9B1-E5F883838F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43385F-FAAA-417F-BEE0-7CFAB639D4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image" Target="../media/image13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1.png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5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9.png"/><Relationship Id="rId3" Type="http://schemas.openxmlformats.org/officeDocument/2006/relationships/image" Target="../media/image19.png"/><Relationship Id="rId4" Type="http://schemas.openxmlformats.org/officeDocument/2006/relationships/image" Target="../media/image19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Relationship Id="rId9" Type="http://schemas.openxmlformats.org/officeDocument/2006/relationships/image" Target="../media/image20.png"/><Relationship Id="rId10" Type="http://schemas.openxmlformats.org/officeDocument/2006/relationships/image" Target="../media/image18.png"/><Relationship Id="rId11" Type="http://schemas.openxmlformats.org/officeDocument/2006/relationships/image" Target="../media/image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 0" descr="preencoded.png"/>
          <p:cNvPicPr/>
          <p:nvPr/>
        </p:nvPicPr>
        <p:blipFill>
          <a:blip r:embed="rId1">
            <a:alphaModFix amt="25000"/>
          </a:blip>
          <a:stretch/>
        </p:blipFill>
        <p:spPr>
          <a:xfrm>
            <a:off x="6400800" y="365760"/>
            <a:ext cx="2559960" cy="255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1"/>
          <p:cNvSpPr/>
          <p:nvPr/>
        </p:nvSpPr>
        <p:spPr>
          <a:xfrm>
            <a:off x="457200" y="41148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pc="201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SUPNUM · Nouakchott · 2025–2026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457200" y="100584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Système Intelligent de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457200" y="164592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Gestion de Bibliothèque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457200" y="2468880"/>
            <a:ext cx="7497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Library Management System — Backend REST 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457200" y="3017520"/>
            <a:ext cx="1599840" cy="383760"/>
          </a:xfrm>
          <a:prstGeom prst="roundRect">
            <a:avLst>
              <a:gd name="adj" fmla="val 19048"/>
            </a:avLst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457200" y="3017520"/>
            <a:ext cx="1599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Java 21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7"/>
          <p:cNvSpPr/>
          <p:nvPr/>
        </p:nvSpPr>
        <p:spPr>
          <a:xfrm>
            <a:off x="2148840" y="3017520"/>
            <a:ext cx="1599840" cy="383760"/>
          </a:xfrm>
          <a:prstGeom prst="roundRect">
            <a:avLst>
              <a:gd name="adj" fmla="val 19048"/>
            </a:avLst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2148840" y="3017520"/>
            <a:ext cx="1599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Spring Boot 3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9"/>
          <p:cNvSpPr/>
          <p:nvPr/>
        </p:nvSpPr>
        <p:spPr>
          <a:xfrm>
            <a:off x="3840480" y="3017520"/>
            <a:ext cx="1599840" cy="383760"/>
          </a:xfrm>
          <a:prstGeom prst="roundRect">
            <a:avLst>
              <a:gd name="adj" fmla="val 19048"/>
            </a:avLst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3840480" y="3017520"/>
            <a:ext cx="1599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JPA/Hibernate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1"/>
          <p:cNvSpPr/>
          <p:nvPr/>
        </p:nvSpPr>
        <p:spPr>
          <a:xfrm>
            <a:off x="5532120" y="3017520"/>
            <a:ext cx="1599840" cy="383760"/>
          </a:xfrm>
          <a:prstGeom prst="roundRect">
            <a:avLst>
              <a:gd name="adj" fmla="val 19048"/>
            </a:avLst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5532120" y="3017520"/>
            <a:ext cx="1599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MySQL 8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3"/>
          <p:cNvSpPr/>
          <p:nvPr/>
        </p:nvSpPr>
        <p:spPr>
          <a:xfrm>
            <a:off x="7223760" y="3017520"/>
            <a:ext cx="1599840" cy="383760"/>
          </a:xfrm>
          <a:prstGeom prst="roundRect">
            <a:avLst>
              <a:gd name="adj" fmla="val 19048"/>
            </a:avLst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7223760" y="3017520"/>
            <a:ext cx="1599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Spring Security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457200" y="3703320"/>
            <a:ext cx="8229240" cy="1800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457200" y="37947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Équipe · 24068 · 24139 · 24238 · 24014 · 24157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7"/>
          <p:cNvSpPr/>
          <p:nvPr/>
        </p:nvSpPr>
        <p:spPr>
          <a:xfrm>
            <a:off x="6583680" y="46634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Projet Springboot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f1e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411480" y="274320"/>
            <a:ext cx="8320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Plan de Présentation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"/>
          <p:cNvSpPr/>
          <p:nvPr/>
        </p:nvSpPr>
        <p:spPr>
          <a:xfrm>
            <a:off x="411480" y="1051560"/>
            <a:ext cx="4114440" cy="74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3"/>
          <p:cNvSpPr/>
          <p:nvPr/>
        </p:nvSpPr>
        <p:spPr>
          <a:xfrm>
            <a:off x="411480" y="1051560"/>
            <a:ext cx="54360" cy="7495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548640" y="11613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0" descr="preencoded.png"/>
          <p:cNvPicPr/>
          <p:nvPr/>
        </p:nvPicPr>
        <p:blipFill>
          <a:blip r:embed="rId1"/>
          <a:stretch/>
        </p:blipFill>
        <p:spPr>
          <a:xfrm>
            <a:off x="1069920" y="120708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5"/>
          <p:cNvSpPr/>
          <p:nvPr/>
        </p:nvSpPr>
        <p:spPr>
          <a:xfrm>
            <a:off x="1527120" y="117036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Introduction &amp; Contexte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6"/>
          <p:cNvSpPr/>
          <p:nvPr/>
        </p:nvSpPr>
        <p:spPr>
          <a:xfrm>
            <a:off x="411480" y="2011680"/>
            <a:ext cx="4114440" cy="74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7"/>
          <p:cNvSpPr/>
          <p:nvPr/>
        </p:nvSpPr>
        <p:spPr>
          <a:xfrm>
            <a:off x="411480" y="2011680"/>
            <a:ext cx="54360" cy="7495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548640" y="2121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1" descr="preencoded.png"/>
          <p:cNvPicPr/>
          <p:nvPr/>
        </p:nvPicPr>
        <p:blipFill>
          <a:blip r:embed="rId2"/>
          <a:stretch/>
        </p:blipFill>
        <p:spPr>
          <a:xfrm>
            <a:off x="1069920" y="2167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9"/>
          <p:cNvSpPr/>
          <p:nvPr/>
        </p:nvSpPr>
        <p:spPr>
          <a:xfrm>
            <a:off x="1527120" y="213048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Analyse &amp; Conception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0"/>
          <p:cNvSpPr/>
          <p:nvPr/>
        </p:nvSpPr>
        <p:spPr>
          <a:xfrm>
            <a:off x="411480" y="2971800"/>
            <a:ext cx="4114440" cy="74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1"/>
          <p:cNvSpPr/>
          <p:nvPr/>
        </p:nvSpPr>
        <p:spPr>
          <a:xfrm>
            <a:off x="411480" y="2971800"/>
            <a:ext cx="54360" cy="7495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548640" y="30816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2" descr="preencoded.png"/>
          <p:cNvPicPr/>
          <p:nvPr/>
        </p:nvPicPr>
        <p:blipFill>
          <a:blip r:embed="rId3"/>
          <a:stretch/>
        </p:blipFill>
        <p:spPr>
          <a:xfrm>
            <a:off x="1069920" y="31273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13"/>
          <p:cNvSpPr/>
          <p:nvPr/>
        </p:nvSpPr>
        <p:spPr>
          <a:xfrm>
            <a:off x="1527120" y="309060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Architecture Technique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4"/>
          <p:cNvSpPr/>
          <p:nvPr/>
        </p:nvSpPr>
        <p:spPr>
          <a:xfrm>
            <a:off x="411480" y="3931920"/>
            <a:ext cx="4114440" cy="74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5"/>
          <p:cNvSpPr/>
          <p:nvPr/>
        </p:nvSpPr>
        <p:spPr>
          <a:xfrm>
            <a:off x="411480" y="3931920"/>
            <a:ext cx="54360" cy="7495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548640" y="4041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3" descr="preencoded.png"/>
          <p:cNvPicPr/>
          <p:nvPr/>
        </p:nvPicPr>
        <p:blipFill>
          <a:blip r:embed="rId4"/>
          <a:stretch/>
        </p:blipFill>
        <p:spPr>
          <a:xfrm>
            <a:off x="1069920" y="40874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17"/>
          <p:cNvSpPr/>
          <p:nvPr/>
        </p:nvSpPr>
        <p:spPr>
          <a:xfrm>
            <a:off x="1527120" y="405072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Implémentation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8"/>
          <p:cNvSpPr/>
          <p:nvPr/>
        </p:nvSpPr>
        <p:spPr>
          <a:xfrm>
            <a:off x="4800600" y="1051560"/>
            <a:ext cx="4114440" cy="74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9"/>
          <p:cNvSpPr/>
          <p:nvPr/>
        </p:nvSpPr>
        <p:spPr>
          <a:xfrm>
            <a:off x="4800600" y="1051560"/>
            <a:ext cx="54360" cy="7495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0"/>
          <p:cNvSpPr/>
          <p:nvPr/>
        </p:nvSpPr>
        <p:spPr>
          <a:xfrm>
            <a:off x="4937760" y="11613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4" descr="preencoded.png"/>
          <p:cNvPicPr/>
          <p:nvPr/>
        </p:nvPicPr>
        <p:blipFill>
          <a:blip r:embed="rId5"/>
          <a:stretch/>
        </p:blipFill>
        <p:spPr>
          <a:xfrm>
            <a:off x="5459040" y="120708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21"/>
          <p:cNvSpPr/>
          <p:nvPr/>
        </p:nvSpPr>
        <p:spPr>
          <a:xfrm>
            <a:off x="5916240" y="117036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API REST &amp; Sécurité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2"/>
          <p:cNvSpPr/>
          <p:nvPr/>
        </p:nvSpPr>
        <p:spPr>
          <a:xfrm>
            <a:off x="4800600" y="2011680"/>
            <a:ext cx="4114440" cy="74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3"/>
          <p:cNvSpPr/>
          <p:nvPr/>
        </p:nvSpPr>
        <p:spPr>
          <a:xfrm>
            <a:off x="4800600" y="2011680"/>
            <a:ext cx="54360" cy="7495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4"/>
          <p:cNvSpPr/>
          <p:nvPr/>
        </p:nvSpPr>
        <p:spPr>
          <a:xfrm>
            <a:off x="4937760" y="2121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5" descr="preencoded.png"/>
          <p:cNvPicPr/>
          <p:nvPr/>
        </p:nvPicPr>
        <p:blipFill>
          <a:blip r:embed="rId6"/>
          <a:stretch/>
        </p:blipFill>
        <p:spPr>
          <a:xfrm>
            <a:off x="5459040" y="2167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25"/>
          <p:cNvSpPr/>
          <p:nvPr/>
        </p:nvSpPr>
        <p:spPr>
          <a:xfrm>
            <a:off x="5916240" y="213048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Tests &amp; Validation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6"/>
          <p:cNvSpPr/>
          <p:nvPr/>
        </p:nvSpPr>
        <p:spPr>
          <a:xfrm>
            <a:off x="4800600" y="2971800"/>
            <a:ext cx="4114440" cy="749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7"/>
          <p:cNvSpPr/>
          <p:nvPr/>
        </p:nvSpPr>
        <p:spPr>
          <a:xfrm>
            <a:off x="4800600" y="2971800"/>
            <a:ext cx="54360" cy="7495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8"/>
          <p:cNvSpPr/>
          <p:nvPr/>
        </p:nvSpPr>
        <p:spPr>
          <a:xfrm>
            <a:off x="4937760" y="30816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6" descr="preencoded.png"/>
          <p:cNvPicPr/>
          <p:nvPr/>
        </p:nvPicPr>
        <p:blipFill>
          <a:blip r:embed="rId7"/>
          <a:stretch/>
        </p:blipFill>
        <p:spPr>
          <a:xfrm>
            <a:off x="5459040" y="31273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29"/>
          <p:cNvSpPr/>
          <p:nvPr/>
        </p:nvSpPr>
        <p:spPr>
          <a:xfrm>
            <a:off x="5916240" y="309060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Conclusion &amp; Perspectives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411480" y="25596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pc="201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01 · Introduction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411480" y="6217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Contexte du Projet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>
            <a:off x="411480" y="1508760"/>
            <a:ext cx="4068720" cy="1325520"/>
          </a:xfrm>
          <a:prstGeom prst="rect">
            <a:avLst/>
          </a:prstGeom>
          <a:solidFill>
            <a:srgbClr val="1a3166"/>
          </a:solidFill>
          <a:ln w="0">
            <a:noFill/>
          </a:ln>
          <a:effectLst>
            <a:outerShdw algn="bl" blurRad="15228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411480" y="1508760"/>
            <a:ext cx="54360" cy="13255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0" descr="preencoded.png"/>
          <p:cNvPicPr/>
          <p:nvPr/>
        </p:nvPicPr>
        <p:blipFill>
          <a:blip r:embed="rId1"/>
          <a:stretch/>
        </p:blipFill>
        <p:spPr>
          <a:xfrm>
            <a:off x="594360" y="16642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5"/>
          <p:cNvSpPr/>
          <p:nvPr/>
        </p:nvSpPr>
        <p:spPr>
          <a:xfrm>
            <a:off x="1280160" y="1618560"/>
            <a:ext cx="3062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Suivi complexe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1280160" y="198432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Gestion manuelle des documents et catalogues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7"/>
          <p:cNvSpPr/>
          <p:nvPr/>
        </p:nvSpPr>
        <p:spPr>
          <a:xfrm>
            <a:off x="4709160" y="1508760"/>
            <a:ext cx="4068720" cy="1325520"/>
          </a:xfrm>
          <a:prstGeom prst="rect">
            <a:avLst/>
          </a:prstGeom>
          <a:solidFill>
            <a:srgbClr val="1a3166"/>
          </a:solidFill>
          <a:ln w="0">
            <a:noFill/>
          </a:ln>
          <a:effectLst>
            <a:outerShdw algn="bl" blurRad="15228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8"/>
          <p:cNvSpPr/>
          <p:nvPr/>
        </p:nvSpPr>
        <p:spPr>
          <a:xfrm>
            <a:off x="4709160" y="1508760"/>
            <a:ext cx="54360" cy="13255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1" descr="preencoded.png"/>
          <p:cNvPicPr/>
          <p:nvPr/>
        </p:nvPicPr>
        <p:blipFill>
          <a:blip r:embed="rId2"/>
          <a:stretch/>
        </p:blipFill>
        <p:spPr>
          <a:xfrm>
            <a:off x="4892040" y="16642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9"/>
          <p:cNvSpPr/>
          <p:nvPr/>
        </p:nvSpPr>
        <p:spPr>
          <a:xfrm>
            <a:off x="5577840" y="1618560"/>
            <a:ext cx="3062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Erreurs humaines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5577840" y="198432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Risque dans l'enregistrement des prêts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1"/>
          <p:cNvSpPr/>
          <p:nvPr/>
        </p:nvSpPr>
        <p:spPr>
          <a:xfrm>
            <a:off x="411480" y="3017520"/>
            <a:ext cx="4068720" cy="1325520"/>
          </a:xfrm>
          <a:prstGeom prst="rect">
            <a:avLst/>
          </a:prstGeom>
          <a:solidFill>
            <a:srgbClr val="1a3166"/>
          </a:solidFill>
          <a:ln w="0">
            <a:noFill/>
          </a:ln>
          <a:effectLst>
            <a:outerShdw algn="bl" blurRad="15228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2"/>
          <p:cNvSpPr/>
          <p:nvPr/>
        </p:nvSpPr>
        <p:spPr>
          <a:xfrm>
            <a:off x="411480" y="3017520"/>
            <a:ext cx="54360" cy="13255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2" descr="preencoded.png"/>
          <p:cNvPicPr/>
          <p:nvPr/>
        </p:nvPicPr>
        <p:blipFill>
          <a:blip r:embed="rId3"/>
          <a:stretch/>
        </p:blipFill>
        <p:spPr>
          <a:xfrm>
            <a:off x="594360" y="317304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13"/>
          <p:cNvSpPr/>
          <p:nvPr/>
        </p:nvSpPr>
        <p:spPr>
          <a:xfrm>
            <a:off x="1280160" y="3127320"/>
            <a:ext cx="3062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Files d'attente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1280160" y="34930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Difficile de gérer les livres très demandés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5"/>
          <p:cNvSpPr/>
          <p:nvPr/>
        </p:nvSpPr>
        <p:spPr>
          <a:xfrm>
            <a:off x="4709160" y="3017520"/>
            <a:ext cx="4068720" cy="1325520"/>
          </a:xfrm>
          <a:prstGeom prst="rect">
            <a:avLst/>
          </a:prstGeom>
          <a:solidFill>
            <a:srgbClr val="1a3166"/>
          </a:solidFill>
          <a:ln w="0">
            <a:noFill/>
          </a:ln>
          <a:effectLst>
            <a:outerShdw algn="bl" blurRad="15228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4709160" y="3017520"/>
            <a:ext cx="54360" cy="13255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3" descr="preencoded.png"/>
          <p:cNvPicPr/>
          <p:nvPr/>
        </p:nvPicPr>
        <p:blipFill>
          <a:blip r:embed="rId4"/>
          <a:stretch/>
        </p:blipFill>
        <p:spPr>
          <a:xfrm>
            <a:off x="4892040" y="317304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17"/>
          <p:cNvSpPr/>
          <p:nvPr/>
        </p:nvSpPr>
        <p:spPr>
          <a:xfrm>
            <a:off x="5577840" y="3127320"/>
            <a:ext cx="3062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Traçabilité nulle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8"/>
          <p:cNvSpPr/>
          <p:nvPr/>
        </p:nvSpPr>
        <p:spPr>
          <a:xfrm>
            <a:off x="5577840" y="34930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Absence d'historique et d'audit des opérations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9"/>
          <p:cNvSpPr/>
          <p:nvPr/>
        </p:nvSpPr>
        <p:spPr>
          <a:xfrm>
            <a:off x="411480" y="4572000"/>
            <a:ext cx="8320680" cy="383760"/>
          </a:xfrm>
          <a:prstGeom prst="roundRect">
            <a:avLst>
              <a:gd name="adj" fmla="val 14286"/>
            </a:avLst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0"/>
          <p:cNvSpPr/>
          <p:nvPr/>
        </p:nvSpPr>
        <p:spPr>
          <a:xfrm>
            <a:off x="411480" y="4572000"/>
            <a:ext cx="832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→  Solution : une API REST intelligente, moderne et scalable avec Spring Boot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f1e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411480" y="255960"/>
            <a:ext cx="8320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Objectifs &amp; Équipe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411480" y="960120"/>
            <a:ext cx="4205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3166"/>
                </a:solidFill>
                <a:effectLst/>
                <a:uFillTx/>
                <a:latin typeface="Calibri"/>
                <a:ea typeface="Calibri"/>
              </a:rPr>
              <a:t>Objectifs Principaux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0" descr="preencoded.png"/>
          <p:cNvPicPr/>
          <p:nvPr/>
        </p:nvPicPr>
        <p:blipFill>
          <a:blip r:embed="rId1"/>
          <a:stretch/>
        </p:blipFill>
        <p:spPr>
          <a:xfrm>
            <a:off x="411480" y="143568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3"/>
          <p:cNvSpPr/>
          <p:nvPr/>
        </p:nvSpPr>
        <p:spPr>
          <a:xfrm>
            <a:off x="822960" y="141732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Concevoir une API REST complète pour bibliothèque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1" descr="preencoded.png"/>
          <p:cNvPicPr/>
          <p:nvPr/>
        </p:nvPicPr>
        <p:blipFill>
          <a:blip r:embed="rId2"/>
          <a:stretch/>
        </p:blipFill>
        <p:spPr>
          <a:xfrm>
            <a:off x="411480" y="212148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4"/>
          <p:cNvSpPr/>
          <p:nvPr/>
        </p:nvSpPr>
        <p:spPr>
          <a:xfrm>
            <a:off x="822960" y="210312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Implémenter des règles métier précises (quota, FIFO, renouvellements)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2" descr="preencoded.png"/>
          <p:cNvPicPr/>
          <p:nvPr/>
        </p:nvPicPr>
        <p:blipFill>
          <a:blip r:embed="rId3"/>
          <a:stretch/>
        </p:blipFill>
        <p:spPr>
          <a:xfrm>
            <a:off x="411480" y="280728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5"/>
          <p:cNvSpPr/>
          <p:nvPr/>
        </p:nvSpPr>
        <p:spPr>
          <a:xfrm>
            <a:off x="822960" y="278892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Assurer l'intégrité via Soft Delete et Optimistic Locking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Image 3" descr="preencoded.png"/>
          <p:cNvPicPr/>
          <p:nvPr/>
        </p:nvPicPr>
        <p:blipFill>
          <a:blip r:embed="rId4"/>
          <a:stretch/>
        </p:blipFill>
        <p:spPr>
          <a:xfrm>
            <a:off x="411480" y="349308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 6"/>
          <p:cNvSpPr/>
          <p:nvPr/>
        </p:nvSpPr>
        <p:spPr>
          <a:xfrm>
            <a:off x="822960" y="347472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Sécuriser l'API avec Spring Security (Basic Auth + rôles)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7"/>
          <p:cNvSpPr/>
          <p:nvPr/>
        </p:nvSpPr>
        <p:spPr>
          <a:xfrm>
            <a:off x="4709160" y="914400"/>
            <a:ext cx="27000" cy="393156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4892040" y="96012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3166"/>
                </a:solidFill>
                <a:effectLst/>
                <a:uFillTx/>
                <a:latin typeface="Calibri"/>
                <a:ea typeface="Calibri"/>
              </a:rPr>
              <a:t>Répartition de l'Équipe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9"/>
          <p:cNvSpPr/>
          <p:nvPr/>
        </p:nvSpPr>
        <p:spPr>
          <a:xfrm>
            <a:off x="4892040" y="1389960"/>
            <a:ext cx="3931560" cy="594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4892040" y="1389960"/>
            <a:ext cx="50040" cy="59400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5047560" y="1435680"/>
            <a:ext cx="685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24068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2"/>
          <p:cNvSpPr/>
          <p:nvPr/>
        </p:nvSpPr>
        <p:spPr>
          <a:xfrm>
            <a:off x="5742360" y="1454040"/>
            <a:ext cx="1005480" cy="228240"/>
          </a:xfrm>
          <a:prstGeom prst="roundRect">
            <a:avLst>
              <a:gd name="adj" fmla="val 20000"/>
            </a:avLst>
          </a:prstGeom>
          <a:solidFill>
            <a:srgbClr val="0f1e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5742360" y="145404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Leader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5047560" y="170064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Architecture, Sécurité, BaseEntity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5"/>
          <p:cNvSpPr/>
          <p:nvPr/>
        </p:nvSpPr>
        <p:spPr>
          <a:xfrm>
            <a:off x="4892040" y="2103120"/>
            <a:ext cx="3931560" cy="594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6"/>
          <p:cNvSpPr/>
          <p:nvPr/>
        </p:nvSpPr>
        <p:spPr>
          <a:xfrm>
            <a:off x="4892040" y="2103120"/>
            <a:ext cx="50040" cy="5940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7"/>
          <p:cNvSpPr/>
          <p:nvPr/>
        </p:nvSpPr>
        <p:spPr>
          <a:xfrm>
            <a:off x="5047560" y="2148840"/>
            <a:ext cx="685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24139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8"/>
          <p:cNvSpPr/>
          <p:nvPr/>
        </p:nvSpPr>
        <p:spPr>
          <a:xfrm>
            <a:off x="5742360" y="2167200"/>
            <a:ext cx="1005480" cy="22824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9"/>
          <p:cNvSpPr/>
          <p:nvPr/>
        </p:nvSpPr>
        <p:spPr>
          <a:xfrm>
            <a:off x="5742360" y="216720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Développeur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0"/>
          <p:cNvSpPr/>
          <p:nvPr/>
        </p:nvSpPr>
        <p:spPr>
          <a:xfrm>
            <a:off x="5047560" y="241416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Tables de référence (Lang, Cat, Auteur…)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1"/>
          <p:cNvSpPr/>
          <p:nvPr/>
        </p:nvSpPr>
        <p:spPr>
          <a:xfrm>
            <a:off x="4892040" y="2816280"/>
            <a:ext cx="3931560" cy="594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2"/>
          <p:cNvSpPr/>
          <p:nvPr/>
        </p:nvSpPr>
        <p:spPr>
          <a:xfrm>
            <a:off x="4892040" y="2816280"/>
            <a:ext cx="50040" cy="5940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3"/>
          <p:cNvSpPr/>
          <p:nvPr/>
        </p:nvSpPr>
        <p:spPr>
          <a:xfrm>
            <a:off x="5047560" y="2862000"/>
            <a:ext cx="685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24238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4"/>
          <p:cNvSpPr/>
          <p:nvPr/>
        </p:nvSpPr>
        <p:spPr>
          <a:xfrm>
            <a:off x="5742360" y="2880360"/>
            <a:ext cx="1005480" cy="22824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5"/>
          <p:cNvSpPr/>
          <p:nvPr/>
        </p:nvSpPr>
        <p:spPr>
          <a:xfrm>
            <a:off x="5742360" y="288036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Développeur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6"/>
          <p:cNvSpPr/>
          <p:nvPr/>
        </p:nvSpPr>
        <p:spPr>
          <a:xfrm>
            <a:off x="5047560" y="312732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Livres &amp; Exemplaires, Opt. Locking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7"/>
          <p:cNvSpPr/>
          <p:nvPr/>
        </p:nvSpPr>
        <p:spPr>
          <a:xfrm>
            <a:off x="4892040" y="3529440"/>
            <a:ext cx="3931560" cy="594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8"/>
          <p:cNvSpPr/>
          <p:nvPr/>
        </p:nvSpPr>
        <p:spPr>
          <a:xfrm>
            <a:off x="4892040" y="3529440"/>
            <a:ext cx="50040" cy="5940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9"/>
          <p:cNvSpPr/>
          <p:nvPr/>
        </p:nvSpPr>
        <p:spPr>
          <a:xfrm>
            <a:off x="5047560" y="3575160"/>
            <a:ext cx="685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24014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0"/>
          <p:cNvSpPr/>
          <p:nvPr/>
        </p:nvSpPr>
        <p:spPr>
          <a:xfrm>
            <a:off x="5742360" y="3593520"/>
            <a:ext cx="1005480" cy="22824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1"/>
          <p:cNvSpPr/>
          <p:nvPr/>
        </p:nvSpPr>
        <p:spPr>
          <a:xfrm>
            <a:off x="5742360" y="359352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Développeur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2"/>
          <p:cNvSpPr/>
          <p:nvPr/>
        </p:nvSpPr>
        <p:spPr>
          <a:xfrm>
            <a:off x="5047560" y="384048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Membres, Emprunts, Règles métier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3"/>
          <p:cNvSpPr/>
          <p:nvPr/>
        </p:nvSpPr>
        <p:spPr>
          <a:xfrm>
            <a:off x="4892040" y="4242960"/>
            <a:ext cx="3931560" cy="594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4"/>
          <p:cNvSpPr/>
          <p:nvPr/>
        </p:nvSpPr>
        <p:spPr>
          <a:xfrm>
            <a:off x="4892040" y="4242960"/>
            <a:ext cx="50040" cy="5940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5"/>
          <p:cNvSpPr/>
          <p:nvPr/>
        </p:nvSpPr>
        <p:spPr>
          <a:xfrm>
            <a:off x="5047560" y="4288680"/>
            <a:ext cx="685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24157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6"/>
          <p:cNvSpPr/>
          <p:nvPr/>
        </p:nvSpPr>
        <p:spPr>
          <a:xfrm>
            <a:off x="5742360" y="4306680"/>
            <a:ext cx="1005480" cy="22824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7"/>
          <p:cNvSpPr/>
          <p:nvPr/>
        </p:nvSpPr>
        <p:spPr>
          <a:xfrm>
            <a:off x="5742360" y="430668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Développeur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8"/>
          <p:cNvSpPr/>
          <p:nvPr/>
        </p:nvSpPr>
        <p:spPr>
          <a:xfrm>
            <a:off x="5047560" y="455364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Réservations, File d'attente FIFO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411480" y="25596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pc="201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02 · Analyse &amp; Conception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411480" y="5670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Modèle Conceptuel de Données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411480" y="1298520"/>
            <a:ext cx="2011320" cy="1051200"/>
          </a:xfrm>
          <a:prstGeom prst="rect">
            <a:avLst/>
          </a:prstGeom>
          <a:solidFill>
            <a:srgbClr val="243d82"/>
          </a:solidFill>
          <a:ln w="0">
            <a:noFill/>
          </a:ln>
          <a:effectLst>
            <a:outerShdw algn="bl" blurRad="12708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4"/>
          <p:cNvSpPr/>
          <p:nvPr/>
        </p:nvSpPr>
        <p:spPr>
          <a:xfrm>
            <a:off x="411480" y="1298520"/>
            <a:ext cx="2011320" cy="2923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457200" y="13168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LANGUAGE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457200" y="164592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Code ISO (PK)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7"/>
          <p:cNvSpPr/>
          <p:nvPr/>
        </p:nvSpPr>
        <p:spPr>
          <a:xfrm>
            <a:off x="2587680" y="1298520"/>
            <a:ext cx="2011320" cy="1051200"/>
          </a:xfrm>
          <a:prstGeom prst="rect">
            <a:avLst/>
          </a:prstGeom>
          <a:solidFill>
            <a:srgbClr val="243d82"/>
          </a:solidFill>
          <a:ln w="0">
            <a:noFill/>
          </a:ln>
          <a:effectLst>
            <a:outerShdw algn="bl" blurRad="12708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8"/>
          <p:cNvSpPr/>
          <p:nvPr/>
        </p:nvSpPr>
        <p:spPr>
          <a:xfrm>
            <a:off x="2587680" y="1298520"/>
            <a:ext cx="2011320" cy="2923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2633400" y="13168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NATIONALITY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2633400" y="164592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Code (PK)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1"/>
          <p:cNvSpPr/>
          <p:nvPr/>
        </p:nvSpPr>
        <p:spPr>
          <a:xfrm>
            <a:off x="4763880" y="1298520"/>
            <a:ext cx="2011320" cy="1051200"/>
          </a:xfrm>
          <a:prstGeom prst="rect">
            <a:avLst/>
          </a:prstGeom>
          <a:solidFill>
            <a:srgbClr val="243d82"/>
          </a:solidFill>
          <a:ln w="0">
            <a:noFill/>
          </a:ln>
          <a:effectLst>
            <a:outerShdw algn="bl" blurRad="12708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2"/>
          <p:cNvSpPr/>
          <p:nvPr/>
        </p:nvSpPr>
        <p:spPr>
          <a:xfrm>
            <a:off x="4763880" y="1298520"/>
            <a:ext cx="2011320" cy="29232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3"/>
          <p:cNvSpPr/>
          <p:nvPr/>
        </p:nvSpPr>
        <p:spPr>
          <a:xfrm>
            <a:off x="4809600" y="13168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CATEGORY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4"/>
          <p:cNvSpPr/>
          <p:nvPr/>
        </p:nvSpPr>
        <p:spPr>
          <a:xfrm>
            <a:off x="4809600" y="164592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Soft Delete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5"/>
          <p:cNvSpPr/>
          <p:nvPr/>
        </p:nvSpPr>
        <p:spPr>
          <a:xfrm>
            <a:off x="6940440" y="1298520"/>
            <a:ext cx="2011320" cy="1051200"/>
          </a:xfrm>
          <a:prstGeom prst="rect">
            <a:avLst/>
          </a:prstGeom>
          <a:solidFill>
            <a:srgbClr val="243d82"/>
          </a:solidFill>
          <a:ln w="0">
            <a:noFill/>
          </a:ln>
          <a:effectLst>
            <a:outerShdw algn="bl" blurRad="12708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6"/>
          <p:cNvSpPr/>
          <p:nvPr/>
        </p:nvSpPr>
        <p:spPr>
          <a:xfrm>
            <a:off x="6940440" y="1298520"/>
            <a:ext cx="2011320" cy="29232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7"/>
          <p:cNvSpPr/>
          <p:nvPr/>
        </p:nvSpPr>
        <p:spPr>
          <a:xfrm>
            <a:off x="6986160" y="13168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PUBLISHER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8"/>
          <p:cNvSpPr/>
          <p:nvPr/>
        </p:nvSpPr>
        <p:spPr>
          <a:xfrm>
            <a:off x="6986160" y="164592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Soft Delete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9"/>
          <p:cNvSpPr/>
          <p:nvPr/>
        </p:nvSpPr>
        <p:spPr>
          <a:xfrm>
            <a:off x="411480" y="2532960"/>
            <a:ext cx="2011320" cy="1051200"/>
          </a:xfrm>
          <a:prstGeom prst="rect">
            <a:avLst/>
          </a:prstGeom>
          <a:solidFill>
            <a:srgbClr val="243d82"/>
          </a:solidFill>
          <a:ln w="0">
            <a:noFill/>
          </a:ln>
          <a:effectLst>
            <a:outerShdw algn="bl" blurRad="12708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0"/>
          <p:cNvSpPr/>
          <p:nvPr/>
        </p:nvSpPr>
        <p:spPr>
          <a:xfrm>
            <a:off x="411480" y="2532960"/>
            <a:ext cx="2011320" cy="29232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1"/>
          <p:cNvSpPr/>
          <p:nvPr/>
        </p:nvSpPr>
        <p:spPr>
          <a:xfrm>
            <a:off x="457200" y="25513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AUTHOR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2"/>
          <p:cNvSpPr/>
          <p:nvPr/>
        </p:nvSpPr>
        <p:spPr>
          <a:xfrm>
            <a:off x="457200" y="288036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Soft Delete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3"/>
          <p:cNvSpPr/>
          <p:nvPr/>
        </p:nvSpPr>
        <p:spPr>
          <a:xfrm>
            <a:off x="2587680" y="2532960"/>
            <a:ext cx="2011320" cy="1051200"/>
          </a:xfrm>
          <a:prstGeom prst="rect">
            <a:avLst/>
          </a:prstGeom>
          <a:solidFill>
            <a:srgbClr val="243d82"/>
          </a:solidFill>
          <a:ln w="0">
            <a:noFill/>
          </a:ln>
          <a:effectLst>
            <a:outerShdw algn="bl" blurRad="12708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4"/>
          <p:cNvSpPr/>
          <p:nvPr/>
        </p:nvSpPr>
        <p:spPr>
          <a:xfrm>
            <a:off x="2587680" y="2532960"/>
            <a:ext cx="2011320" cy="2923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5"/>
          <p:cNvSpPr/>
          <p:nvPr/>
        </p:nvSpPr>
        <p:spPr>
          <a:xfrm>
            <a:off x="2633400" y="25513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BOOK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6"/>
          <p:cNvSpPr/>
          <p:nvPr/>
        </p:nvSpPr>
        <p:spPr>
          <a:xfrm>
            <a:off x="2633400" y="288036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ISBN unique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7"/>
          <p:cNvSpPr/>
          <p:nvPr/>
        </p:nvSpPr>
        <p:spPr>
          <a:xfrm>
            <a:off x="4763880" y="2532960"/>
            <a:ext cx="2011320" cy="1051200"/>
          </a:xfrm>
          <a:prstGeom prst="rect">
            <a:avLst/>
          </a:prstGeom>
          <a:solidFill>
            <a:srgbClr val="243d82"/>
          </a:solidFill>
          <a:ln w="0">
            <a:noFill/>
          </a:ln>
          <a:effectLst>
            <a:outerShdw algn="bl" blurRad="12708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8"/>
          <p:cNvSpPr/>
          <p:nvPr/>
        </p:nvSpPr>
        <p:spPr>
          <a:xfrm>
            <a:off x="4763880" y="2532960"/>
            <a:ext cx="2011320" cy="2923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9"/>
          <p:cNvSpPr/>
          <p:nvPr/>
        </p:nvSpPr>
        <p:spPr>
          <a:xfrm>
            <a:off x="4809600" y="25513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BOOK_ITEM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0"/>
          <p:cNvSpPr/>
          <p:nvPr/>
        </p:nvSpPr>
        <p:spPr>
          <a:xfrm>
            <a:off x="4809600" y="288036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@Version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1"/>
          <p:cNvSpPr/>
          <p:nvPr/>
        </p:nvSpPr>
        <p:spPr>
          <a:xfrm>
            <a:off x="6940440" y="2532960"/>
            <a:ext cx="2011320" cy="1051200"/>
          </a:xfrm>
          <a:prstGeom prst="rect">
            <a:avLst/>
          </a:prstGeom>
          <a:solidFill>
            <a:srgbClr val="243d82"/>
          </a:solidFill>
          <a:ln w="0">
            <a:noFill/>
          </a:ln>
          <a:effectLst>
            <a:outerShdw algn="bl" blurRad="12708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2"/>
          <p:cNvSpPr/>
          <p:nvPr/>
        </p:nvSpPr>
        <p:spPr>
          <a:xfrm>
            <a:off x="6940440" y="2532960"/>
            <a:ext cx="2011320" cy="29232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3"/>
          <p:cNvSpPr/>
          <p:nvPr/>
        </p:nvSpPr>
        <p:spPr>
          <a:xfrm>
            <a:off x="6986160" y="255132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BOOK_AUTHOR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4"/>
          <p:cNvSpPr/>
          <p:nvPr/>
        </p:nvSpPr>
        <p:spPr>
          <a:xfrm>
            <a:off x="6986160" y="288036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Clé composée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5"/>
          <p:cNvSpPr/>
          <p:nvPr/>
        </p:nvSpPr>
        <p:spPr>
          <a:xfrm>
            <a:off x="411480" y="3767400"/>
            <a:ext cx="2011320" cy="1051200"/>
          </a:xfrm>
          <a:prstGeom prst="rect">
            <a:avLst/>
          </a:prstGeom>
          <a:solidFill>
            <a:srgbClr val="243d82"/>
          </a:solidFill>
          <a:ln w="0">
            <a:noFill/>
          </a:ln>
          <a:effectLst>
            <a:outerShdw algn="bl" blurRad="12708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36"/>
          <p:cNvSpPr/>
          <p:nvPr/>
        </p:nvSpPr>
        <p:spPr>
          <a:xfrm>
            <a:off x="411480" y="3767400"/>
            <a:ext cx="2011320" cy="29232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7"/>
          <p:cNvSpPr/>
          <p:nvPr/>
        </p:nvSpPr>
        <p:spPr>
          <a:xfrm>
            <a:off x="457200" y="378576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MEMBER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8"/>
          <p:cNvSpPr/>
          <p:nvPr/>
        </p:nvSpPr>
        <p:spPr>
          <a:xfrm>
            <a:off x="457200" y="411480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Soft Delete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39"/>
          <p:cNvSpPr/>
          <p:nvPr/>
        </p:nvSpPr>
        <p:spPr>
          <a:xfrm>
            <a:off x="2587680" y="3767400"/>
            <a:ext cx="2011320" cy="1051200"/>
          </a:xfrm>
          <a:prstGeom prst="rect">
            <a:avLst/>
          </a:prstGeom>
          <a:solidFill>
            <a:srgbClr val="243d82"/>
          </a:solidFill>
          <a:ln w="0">
            <a:noFill/>
          </a:ln>
          <a:effectLst>
            <a:outerShdw algn="bl" blurRad="12708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40"/>
          <p:cNvSpPr/>
          <p:nvPr/>
        </p:nvSpPr>
        <p:spPr>
          <a:xfrm>
            <a:off x="2587680" y="3767400"/>
            <a:ext cx="2011320" cy="292320"/>
          </a:xfrm>
          <a:prstGeom prst="rect">
            <a:avLst/>
          </a:prstGeom>
          <a:solidFill>
            <a:srgbClr val="1a5c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1"/>
          <p:cNvSpPr/>
          <p:nvPr/>
        </p:nvSpPr>
        <p:spPr>
          <a:xfrm>
            <a:off x="2633400" y="378576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BORROW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2"/>
          <p:cNvSpPr/>
          <p:nvPr/>
        </p:nvSpPr>
        <p:spPr>
          <a:xfrm>
            <a:off x="2633400" y="411480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Emprunt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43"/>
          <p:cNvSpPr/>
          <p:nvPr/>
        </p:nvSpPr>
        <p:spPr>
          <a:xfrm>
            <a:off x="4763880" y="3767400"/>
            <a:ext cx="2011320" cy="1051200"/>
          </a:xfrm>
          <a:prstGeom prst="rect">
            <a:avLst/>
          </a:prstGeom>
          <a:solidFill>
            <a:srgbClr val="243d82"/>
          </a:solidFill>
          <a:ln w="0">
            <a:noFill/>
          </a:ln>
          <a:effectLst>
            <a:outerShdw algn="bl" blurRad="12708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44"/>
          <p:cNvSpPr/>
          <p:nvPr/>
        </p:nvSpPr>
        <p:spPr>
          <a:xfrm>
            <a:off x="4763880" y="3767400"/>
            <a:ext cx="2011320" cy="292320"/>
          </a:xfrm>
          <a:prstGeom prst="rect">
            <a:avLst/>
          </a:prstGeom>
          <a:solidFill>
            <a:srgbClr val="6b21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45"/>
          <p:cNvSpPr/>
          <p:nvPr/>
        </p:nvSpPr>
        <p:spPr>
          <a:xfrm>
            <a:off x="4809600" y="378576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RESERVATION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46"/>
          <p:cNvSpPr/>
          <p:nvPr/>
        </p:nvSpPr>
        <p:spPr>
          <a:xfrm>
            <a:off x="4809600" y="411480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FIFO Queue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7"/>
          <p:cNvSpPr/>
          <p:nvPr/>
        </p:nvSpPr>
        <p:spPr>
          <a:xfrm>
            <a:off x="411480" y="4709160"/>
            <a:ext cx="8320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11 entités JPA · Relations OneToMany, ManyToOne, ManyToMany via BookAuthor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f1e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411480" y="255960"/>
            <a:ext cx="8320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Règles Métier Implémentées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"/>
          <p:cNvSpPr/>
          <p:nvPr/>
        </p:nvSpPr>
        <p:spPr>
          <a:xfrm>
            <a:off x="411480" y="1005840"/>
            <a:ext cx="2742840" cy="1782720"/>
          </a:xfrm>
          <a:prstGeom prst="rect">
            <a:avLst/>
          </a:prstGeom>
          <a:solidFill>
            <a:srgbClr val="0f1e4a"/>
          </a:solidFill>
          <a:ln w="0">
            <a:noFill/>
          </a:ln>
          <a:effectLst>
            <a:outerShdw algn="bl" blurRad="15228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5" name="Image 0" descr="preencoded.png"/>
          <p:cNvPicPr/>
          <p:nvPr/>
        </p:nvPicPr>
        <p:blipFill>
          <a:blip r:embed="rId1"/>
          <a:stretch/>
        </p:blipFill>
        <p:spPr>
          <a:xfrm>
            <a:off x="576000" y="114300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 3"/>
          <p:cNvSpPr/>
          <p:nvPr/>
        </p:nvSpPr>
        <p:spPr>
          <a:xfrm>
            <a:off x="548640" y="169164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Séparation Livre / Exemplaire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548640" y="2057400"/>
            <a:ext cx="2468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Catalogue d'œuvres (Book) séparé des objets physiques (BookItem) identifiés par code-barres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5"/>
          <p:cNvSpPr/>
          <p:nvPr/>
        </p:nvSpPr>
        <p:spPr>
          <a:xfrm>
            <a:off x="3310200" y="1005840"/>
            <a:ext cx="2742840" cy="1782720"/>
          </a:xfrm>
          <a:prstGeom prst="rect">
            <a:avLst/>
          </a:prstGeom>
          <a:solidFill>
            <a:srgbClr val="0891b2"/>
          </a:solidFill>
          <a:ln w="0">
            <a:noFill/>
          </a:ln>
          <a:effectLst>
            <a:outerShdw algn="bl" blurRad="15228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9" name="Image 1" descr="preencoded.png"/>
          <p:cNvPicPr/>
          <p:nvPr/>
        </p:nvPicPr>
        <p:blipFill>
          <a:blip r:embed="rId2"/>
          <a:stretch/>
        </p:blipFill>
        <p:spPr>
          <a:xfrm>
            <a:off x="3474720" y="114300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6"/>
          <p:cNvSpPr/>
          <p:nvPr/>
        </p:nvSpPr>
        <p:spPr>
          <a:xfrm>
            <a:off x="3447360" y="169164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Quota d'Emprunts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7"/>
          <p:cNvSpPr/>
          <p:nvPr/>
        </p:nvSpPr>
        <p:spPr>
          <a:xfrm>
            <a:off x="3447360" y="2057400"/>
            <a:ext cx="2468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Chaque type de membre (Étudiant, Enseignant, Externe) possède un maxBorrows vérifié avant tout emprunt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8"/>
          <p:cNvSpPr/>
          <p:nvPr/>
        </p:nvSpPr>
        <p:spPr>
          <a:xfrm>
            <a:off x="6208920" y="1005840"/>
            <a:ext cx="2742840" cy="1782720"/>
          </a:xfrm>
          <a:prstGeom prst="rect">
            <a:avLst/>
          </a:prstGeom>
          <a:solidFill>
            <a:srgbClr val="1a3166"/>
          </a:solidFill>
          <a:ln w="0">
            <a:noFill/>
          </a:ln>
          <a:effectLst>
            <a:outerShdw algn="bl" blurRad="15228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3" name="Image 2" descr="preencoded.png"/>
          <p:cNvPicPr/>
          <p:nvPr/>
        </p:nvPicPr>
        <p:blipFill>
          <a:blip r:embed="rId3"/>
          <a:stretch/>
        </p:blipFill>
        <p:spPr>
          <a:xfrm>
            <a:off x="6373440" y="114300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9"/>
          <p:cNvSpPr/>
          <p:nvPr/>
        </p:nvSpPr>
        <p:spPr>
          <a:xfrm>
            <a:off x="6346080" y="169164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Optimistic Locking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0"/>
          <p:cNvSpPr/>
          <p:nvPr/>
        </p:nvSpPr>
        <p:spPr>
          <a:xfrm>
            <a:off x="6346080" y="2057400"/>
            <a:ext cx="2468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@Version sur BookItem — empêche les modifications concurrentes sur un même exemplaire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1"/>
          <p:cNvSpPr/>
          <p:nvPr/>
        </p:nvSpPr>
        <p:spPr>
          <a:xfrm>
            <a:off x="411480" y="2926080"/>
            <a:ext cx="2742840" cy="1782720"/>
          </a:xfrm>
          <a:prstGeom prst="rect">
            <a:avLst/>
          </a:prstGeom>
          <a:solidFill>
            <a:srgbClr val="f0b429"/>
          </a:solidFill>
          <a:ln w="0">
            <a:noFill/>
          </a:ln>
          <a:effectLst>
            <a:outerShdw algn="bl" blurRad="15228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Image 3" descr="preencoded.png"/>
          <p:cNvPicPr/>
          <p:nvPr/>
        </p:nvPicPr>
        <p:blipFill>
          <a:blip r:embed="rId4"/>
          <a:stretch/>
        </p:blipFill>
        <p:spPr>
          <a:xfrm>
            <a:off x="576000" y="306324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 12"/>
          <p:cNvSpPr/>
          <p:nvPr/>
        </p:nvSpPr>
        <p:spPr>
          <a:xfrm>
            <a:off x="548640" y="361188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Renouvellement (max 3×)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548640" y="3977640"/>
            <a:ext cx="2468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291a"/>
                </a:solidFill>
                <a:effectLst/>
                <a:uFillTx/>
                <a:latin typeface="Calibri"/>
                <a:ea typeface="Calibri"/>
              </a:rPr>
              <a:t>Un emprunt actif peut être renouvelé 3 fois maximum via le compteur renewalCount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3310200" y="2926080"/>
            <a:ext cx="2742840" cy="1782720"/>
          </a:xfrm>
          <a:prstGeom prst="rect">
            <a:avLst/>
          </a:prstGeom>
          <a:solidFill>
            <a:srgbClr val="6b21a8"/>
          </a:solidFill>
          <a:ln w="0">
            <a:noFill/>
          </a:ln>
          <a:effectLst>
            <a:outerShdw algn="bl" blurRad="15228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4" descr="preencoded.png"/>
          <p:cNvPicPr/>
          <p:nvPr/>
        </p:nvPicPr>
        <p:blipFill>
          <a:blip r:embed="rId5"/>
          <a:stretch/>
        </p:blipFill>
        <p:spPr>
          <a:xfrm>
            <a:off x="3474720" y="306324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15"/>
          <p:cNvSpPr/>
          <p:nvPr/>
        </p:nvSpPr>
        <p:spPr>
          <a:xfrm>
            <a:off x="3447360" y="361188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File d'Attente FIFO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6"/>
          <p:cNvSpPr/>
          <p:nvPr/>
        </p:nvSpPr>
        <p:spPr>
          <a:xfrm>
            <a:off x="3447360" y="3977640"/>
            <a:ext cx="2468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Les réservations sont traitées dans l'ordre d'arrivée ; queuePosition calculée automatiquement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7"/>
          <p:cNvSpPr/>
          <p:nvPr/>
        </p:nvSpPr>
        <p:spPr>
          <a:xfrm>
            <a:off x="6208920" y="2926080"/>
            <a:ext cx="2742840" cy="1782720"/>
          </a:xfrm>
          <a:prstGeom prst="rect">
            <a:avLst/>
          </a:prstGeom>
          <a:solidFill>
            <a:srgbClr val="1a5c3e"/>
          </a:solidFill>
          <a:ln w="0">
            <a:noFill/>
          </a:ln>
          <a:effectLst>
            <a:outerShdw algn="bl" blurRad="15228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5" name="Image 5" descr="preencoded.png"/>
          <p:cNvPicPr/>
          <p:nvPr/>
        </p:nvPicPr>
        <p:blipFill>
          <a:blip r:embed="rId6"/>
          <a:stretch/>
        </p:blipFill>
        <p:spPr>
          <a:xfrm>
            <a:off x="6373440" y="306324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 18"/>
          <p:cNvSpPr/>
          <p:nvPr/>
        </p:nvSpPr>
        <p:spPr>
          <a:xfrm>
            <a:off x="6346080" y="361188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Soft Delete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9"/>
          <p:cNvSpPr/>
          <p:nvPr/>
        </p:nvSpPr>
        <p:spPr>
          <a:xfrm>
            <a:off x="6346080" y="3977640"/>
            <a:ext cx="2468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Suppression logique (champ deleted) via @SQLRestriction — préserve l'historique complet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"/>
          <p:cNvSpPr/>
          <p:nvPr/>
        </p:nvSpPr>
        <p:spPr>
          <a:xfrm>
            <a:off x="411480" y="25596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pc="201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03 · Architecture Technique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"/>
          <p:cNvSpPr/>
          <p:nvPr/>
        </p:nvSpPr>
        <p:spPr>
          <a:xfrm>
            <a:off x="411480" y="5670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Stack Technologique &amp; Architecture en Couches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"/>
          <p:cNvSpPr/>
          <p:nvPr/>
        </p:nvSpPr>
        <p:spPr>
          <a:xfrm>
            <a:off x="411480" y="1298520"/>
            <a:ext cx="4160160" cy="45684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594360" y="135324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Java 21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2560320" y="135324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Langage principal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6"/>
          <p:cNvSpPr/>
          <p:nvPr/>
        </p:nvSpPr>
        <p:spPr>
          <a:xfrm>
            <a:off x="411480" y="1819800"/>
            <a:ext cx="4160160" cy="456840"/>
          </a:xfrm>
          <a:prstGeom prst="rect">
            <a:avLst/>
          </a:prstGeom>
          <a:solidFill>
            <a:srgbClr val="243d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7"/>
          <p:cNvSpPr/>
          <p:nvPr/>
        </p:nvSpPr>
        <p:spPr>
          <a:xfrm>
            <a:off x="594360" y="187452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Spring Boot 3.x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8"/>
          <p:cNvSpPr/>
          <p:nvPr/>
        </p:nvSpPr>
        <p:spPr>
          <a:xfrm>
            <a:off x="2560320" y="187452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Framework applicatif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9"/>
          <p:cNvSpPr/>
          <p:nvPr/>
        </p:nvSpPr>
        <p:spPr>
          <a:xfrm>
            <a:off x="411480" y="2340720"/>
            <a:ext cx="4160160" cy="45684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0"/>
          <p:cNvSpPr/>
          <p:nvPr/>
        </p:nvSpPr>
        <p:spPr>
          <a:xfrm>
            <a:off x="594360" y="239580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Spring Data JPA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1"/>
          <p:cNvSpPr/>
          <p:nvPr/>
        </p:nvSpPr>
        <p:spPr>
          <a:xfrm>
            <a:off x="2560320" y="239580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ORM &amp; accès données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2"/>
          <p:cNvSpPr/>
          <p:nvPr/>
        </p:nvSpPr>
        <p:spPr>
          <a:xfrm>
            <a:off x="411480" y="2862000"/>
            <a:ext cx="4160160" cy="456840"/>
          </a:xfrm>
          <a:prstGeom prst="rect">
            <a:avLst/>
          </a:prstGeom>
          <a:solidFill>
            <a:srgbClr val="243d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3"/>
          <p:cNvSpPr/>
          <p:nvPr/>
        </p:nvSpPr>
        <p:spPr>
          <a:xfrm>
            <a:off x="594360" y="291708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Spring Security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4"/>
          <p:cNvSpPr/>
          <p:nvPr/>
        </p:nvSpPr>
        <p:spPr>
          <a:xfrm>
            <a:off x="2560320" y="291708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Sécurisation de l'API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5"/>
          <p:cNvSpPr/>
          <p:nvPr/>
        </p:nvSpPr>
        <p:spPr>
          <a:xfrm>
            <a:off x="411480" y="3383280"/>
            <a:ext cx="4160160" cy="45684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6"/>
          <p:cNvSpPr/>
          <p:nvPr/>
        </p:nvSpPr>
        <p:spPr>
          <a:xfrm>
            <a:off x="594360" y="343800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Hibernate 6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7"/>
          <p:cNvSpPr/>
          <p:nvPr/>
        </p:nvSpPr>
        <p:spPr>
          <a:xfrm>
            <a:off x="2560320" y="343800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Implémentation JPA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8"/>
          <p:cNvSpPr/>
          <p:nvPr/>
        </p:nvSpPr>
        <p:spPr>
          <a:xfrm>
            <a:off x="411480" y="3904560"/>
            <a:ext cx="4160160" cy="456840"/>
          </a:xfrm>
          <a:prstGeom prst="rect">
            <a:avLst/>
          </a:prstGeom>
          <a:solidFill>
            <a:srgbClr val="243d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9"/>
          <p:cNvSpPr/>
          <p:nvPr/>
        </p:nvSpPr>
        <p:spPr>
          <a:xfrm>
            <a:off x="594360" y="395928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MySQL 8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0"/>
          <p:cNvSpPr/>
          <p:nvPr/>
        </p:nvSpPr>
        <p:spPr>
          <a:xfrm>
            <a:off x="2560320" y="395928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Base de données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1"/>
          <p:cNvSpPr/>
          <p:nvPr/>
        </p:nvSpPr>
        <p:spPr>
          <a:xfrm>
            <a:off x="411480" y="4425840"/>
            <a:ext cx="4160160" cy="45684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2"/>
          <p:cNvSpPr/>
          <p:nvPr/>
        </p:nvSpPr>
        <p:spPr>
          <a:xfrm>
            <a:off x="594360" y="448056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Maven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3"/>
          <p:cNvSpPr/>
          <p:nvPr/>
        </p:nvSpPr>
        <p:spPr>
          <a:xfrm>
            <a:off x="2560320" y="448056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Build &amp; dépendances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4"/>
          <p:cNvSpPr/>
          <p:nvPr/>
        </p:nvSpPr>
        <p:spPr>
          <a:xfrm>
            <a:off x="4846320" y="1298520"/>
            <a:ext cx="3931560" cy="594000"/>
          </a:xfrm>
          <a:prstGeom prst="rect">
            <a:avLst/>
          </a:prstGeom>
          <a:solidFill>
            <a:srgbClr val="0891b2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Image 0" descr="preencoded.png"/>
          <p:cNvPicPr/>
          <p:nvPr/>
        </p:nvPicPr>
        <p:blipFill>
          <a:blip r:embed="rId1"/>
          <a:stretch/>
        </p:blipFill>
        <p:spPr>
          <a:xfrm>
            <a:off x="4983480" y="13899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Text 25"/>
          <p:cNvSpPr/>
          <p:nvPr/>
        </p:nvSpPr>
        <p:spPr>
          <a:xfrm>
            <a:off x="5486400" y="138996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Controllers (REST API)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6"/>
          <p:cNvSpPr/>
          <p:nvPr/>
        </p:nvSpPr>
        <p:spPr>
          <a:xfrm>
            <a:off x="6583680" y="1892880"/>
            <a:ext cx="456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7"/>
          <p:cNvSpPr/>
          <p:nvPr/>
        </p:nvSpPr>
        <p:spPr>
          <a:xfrm>
            <a:off x="4846320" y="2002680"/>
            <a:ext cx="3931560" cy="594000"/>
          </a:xfrm>
          <a:prstGeom prst="rect">
            <a:avLst/>
          </a:prstGeom>
          <a:solidFill>
            <a:srgbClr val="1a3166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7" name="Image 1" descr="preencoded.png"/>
          <p:cNvPicPr/>
          <p:nvPr/>
        </p:nvPicPr>
        <p:blipFill>
          <a:blip r:embed="rId2"/>
          <a:stretch/>
        </p:blipFill>
        <p:spPr>
          <a:xfrm>
            <a:off x="4983480" y="20941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 28"/>
          <p:cNvSpPr/>
          <p:nvPr/>
        </p:nvSpPr>
        <p:spPr>
          <a:xfrm>
            <a:off x="5486400" y="209412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Services (Règles Métier)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9"/>
          <p:cNvSpPr/>
          <p:nvPr/>
        </p:nvSpPr>
        <p:spPr>
          <a:xfrm>
            <a:off x="6583680" y="2597040"/>
            <a:ext cx="456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30"/>
          <p:cNvSpPr/>
          <p:nvPr/>
        </p:nvSpPr>
        <p:spPr>
          <a:xfrm>
            <a:off x="4846320" y="2706480"/>
            <a:ext cx="3931560" cy="594000"/>
          </a:xfrm>
          <a:prstGeom prst="rect">
            <a:avLst/>
          </a:prstGeom>
          <a:solidFill>
            <a:srgbClr val="2d5016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1" name="Image 2" descr="preencoded.png"/>
          <p:cNvPicPr/>
          <p:nvPr/>
        </p:nvPicPr>
        <p:blipFill>
          <a:blip r:embed="rId3"/>
          <a:stretch/>
        </p:blipFill>
        <p:spPr>
          <a:xfrm>
            <a:off x="4983480" y="2797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Text 31"/>
          <p:cNvSpPr/>
          <p:nvPr/>
        </p:nvSpPr>
        <p:spPr>
          <a:xfrm>
            <a:off x="5486400" y="279792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Repositories (Spring Data JPA)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2"/>
          <p:cNvSpPr/>
          <p:nvPr/>
        </p:nvSpPr>
        <p:spPr>
          <a:xfrm>
            <a:off x="6583680" y="3300840"/>
            <a:ext cx="456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3"/>
          <p:cNvSpPr/>
          <p:nvPr/>
        </p:nvSpPr>
        <p:spPr>
          <a:xfrm>
            <a:off x="4846320" y="3410640"/>
            <a:ext cx="3931560" cy="594000"/>
          </a:xfrm>
          <a:prstGeom prst="rect">
            <a:avLst/>
          </a:prstGeom>
          <a:solidFill>
            <a:srgbClr val="6b21a8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5" name="Image 3" descr="preencoded.png"/>
          <p:cNvPicPr/>
          <p:nvPr/>
        </p:nvPicPr>
        <p:blipFill>
          <a:blip r:embed="rId4"/>
          <a:stretch/>
        </p:blipFill>
        <p:spPr>
          <a:xfrm>
            <a:off x="4983480" y="350208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 34"/>
          <p:cNvSpPr/>
          <p:nvPr/>
        </p:nvSpPr>
        <p:spPr>
          <a:xfrm>
            <a:off x="5486400" y="350208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Entities (JPA + Hibernate)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5"/>
          <p:cNvSpPr/>
          <p:nvPr/>
        </p:nvSpPr>
        <p:spPr>
          <a:xfrm>
            <a:off x="6583680" y="4005000"/>
            <a:ext cx="456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6"/>
          <p:cNvSpPr/>
          <p:nvPr/>
        </p:nvSpPr>
        <p:spPr>
          <a:xfrm>
            <a:off x="4846320" y="4114800"/>
            <a:ext cx="3931560" cy="594000"/>
          </a:xfrm>
          <a:prstGeom prst="rect">
            <a:avLst/>
          </a:prstGeom>
          <a:solidFill>
            <a:srgbClr val="0f1e4a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9" name="Image 4" descr="preencoded.png"/>
          <p:cNvPicPr/>
          <p:nvPr/>
        </p:nvPicPr>
        <p:blipFill>
          <a:blip r:embed="rId5"/>
          <a:stretch/>
        </p:blipFill>
        <p:spPr>
          <a:xfrm>
            <a:off x="4983480" y="4206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 37"/>
          <p:cNvSpPr/>
          <p:nvPr/>
        </p:nvSpPr>
        <p:spPr>
          <a:xfrm>
            <a:off x="5486400" y="420624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DTOs / Security / Exceptions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f1e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"/>
          <p:cNvSpPr/>
          <p:nvPr/>
        </p:nvSpPr>
        <p:spPr>
          <a:xfrm>
            <a:off x="411480" y="25596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pc="201" strike="noStrike">
                <a:solidFill>
                  <a:srgbClr val="1a3166"/>
                </a:solidFill>
                <a:effectLst/>
                <a:uFillTx/>
                <a:latin typeface="Calibri"/>
                <a:ea typeface="Calibri"/>
              </a:rPr>
              <a:t>04 · Implémentation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"/>
          <p:cNvSpPr/>
          <p:nvPr/>
        </p:nvSpPr>
        <p:spPr>
          <a:xfrm>
            <a:off x="411480" y="567000"/>
            <a:ext cx="8320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Flux d'Emprunt — Séquence &amp; Logique Métier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"/>
          <p:cNvSpPr/>
          <p:nvPr/>
        </p:nvSpPr>
        <p:spPr>
          <a:xfrm>
            <a:off x="411480" y="1234440"/>
            <a:ext cx="1919880" cy="43848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4"/>
          <p:cNvSpPr/>
          <p:nvPr/>
        </p:nvSpPr>
        <p:spPr>
          <a:xfrm>
            <a:off x="411480" y="1234440"/>
            <a:ext cx="1919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Client HTTP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5"/>
          <p:cNvSpPr/>
          <p:nvPr/>
        </p:nvSpPr>
        <p:spPr>
          <a:xfrm>
            <a:off x="1371600" y="1673280"/>
            <a:ext cx="360" cy="3108960"/>
          </a:xfrm>
          <a:prstGeom prst="line">
            <a:avLst/>
          </a:prstGeom>
          <a:ln w="12700">
            <a:solidFill>
              <a:srgbClr val="e2e8f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6"/>
          <p:cNvSpPr/>
          <p:nvPr/>
        </p:nvSpPr>
        <p:spPr>
          <a:xfrm>
            <a:off x="2560320" y="1234440"/>
            <a:ext cx="1919880" cy="438480"/>
          </a:xfrm>
          <a:prstGeom prst="rect">
            <a:avLst/>
          </a:prstGeom>
          <a:solidFill>
            <a:srgbClr val="0f1e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7"/>
          <p:cNvSpPr/>
          <p:nvPr/>
        </p:nvSpPr>
        <p:spPr>
          <a:xfrm>
            <a:off x="2560320" y="1234440"/>
            <a:ext cx="1919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Controller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8"/>
          <p:cNvSpPr/>
          <p:nvPr/>
        </p:nvSpPr>
        <p:spPr>
          <a:xfrm>
            <a:off x="3520440" y="1673280"/>
            <a:ext cx="360" cy="3108960"/>
          </a:xfrm>
          <a:prstGeom prst="line">
            <a:avLst/>
          </a:prstGeom>
          <a:ln w="12700">
            <a:solidFill>
              <a:srgbClr val="e2e8f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9"/>
          <p:cNvSpPr/>
          <p:nvPr/>
        </p:nvSpPr>
        <p:spPr>
          <a:xfrm>
            <a:off x="4709160" y="1234440"/>
            <a:ext cx="1919880" cy="43848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0"/>
          <p:cNvSpPr/>
          <p:nvPr/>
        </p:nvSpPr>
        <p:spPr>
          <a:xfrm>
            <a:off x="4709160" y="1234440"/>
            <a:ext cx="1919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Service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1"/>
          <p:cNvSpPr/>
          <p:nvPr/>
        </p:nvSpPr>
        <p:spPr>
          <a:xfrm>
            <a:off x="5669280" y="1673280"/>
            <a:ext cx="360" cy="3108960"/>
          </a:xfrm>
          <a:prstGeom prst="line">
            <a:avLst/>
          </a:prstGeom>
          <a:ln w="12700">
            <a:solidFill>
              <a:srgbClr val="e2e8f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2"/>
          <p:cNvSpPr/>
          <p:nvPr/>
        </p:nvSpPr>
        <p:spPr>
          <a:xfrm>
            <a:off x="6858000" y="1234440"/>
            <a:ext cx="1919880" cy="438480"/>
          </a:xfrm>
          <a:prstGeom prst="rect">
            <a:avLst/>
          </a:prstGeom>
          <a:solidFill>
            <a:srgbClr val="1a5c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3"/>
          <p:cNvSpPr/>
          <p:nvPr/>
        </p:nvSpPr>
        <p:spPr>
          <a:xfrm>
            <a:off x="6858000" y="1234440"/>
            <a:ext cx="1919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Repositories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4"/>
          <p:cNvSpPr/>
          <p:nvPr/>
        </p:nvSpPr>
        <p:spPr>
          <a:xfrm>
            <a:off x="7818120" y="1673280"/>
            <a:ext cx="360" cy="3108960"/>
          </a:xfrm>
          <a:prstGeom prst="line">
            <a:avLst/>
          </a:prstGeom>
          <a:ln w="12700">
            <a:solidFill>
              <a:srgbClr val="e2e8f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5"/>
          <p:cNvSpPr/>
          <p:nvPr/>
        </p:nvSpPr>
        <p:spPr>
          <a:xfrm>
            <a:off x="1398960" y="1874520"/>
            <a:ext cx="2103120" cy="360"/>
          </a:xfrm>
          <a:prstGeom prst="line">
            <a:avLst/>
          </a:prstGeom>
          <a:ln w="19050">
            <a:solidFill>
              <a:srgbClr val="0f1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6"/>
          <p:cNvSpPr/>
          <p:nvPr/>
        </p:nvSpPr>
        <p:spPr>
          <a:xfrm>
            <a:off x="3337560" y="180144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7"/>
          <p:cNvSpPr/>
          <p:nvPr/>
        </p:nvSpPr>
        <p:spPr>
          <a:xfrm>
            <a:off x="1398960" y="164592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POST /borrows/checkout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8"/>
          <p:cNvSpPr/>
          <p:nvPr/>
        </p:nvSpPr>
        <p:spPr>
          <a:xfrm>
            <a:off x="3547800" y="2240280"/>
            <a:ext cx="2103120" cy="360"/>
          </a:xfrm>
          <a:prstGeom prst="line">
            <a:avLst/>
          </a:prstGeom>
          <a:ln w="19050">
            <a:solidFill>
              <a:srgbClr val="0f1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9"/>
          <p:cNvSpPr/>
          <p:nvPr/>
        </p:nvSpPr>
        <p:spPr>
          <a:xfrm>
            <a:off x="5486400" y="216720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0"/>
          <p:cNvSpPr/>
          <p:nvPr/>
        </p:nvSpPr>
        <p:spPr>
          <a:xfrm>
            <a:off x="3547800" y="201168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borrowBook(memberId, barcode)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1"/>
          <p:cNvSpPr/>
          <p:nvPr/>
        </p:nvSpPr>
        <p:spPr>
          <a:xfrm>
            <a:off x="5696640" y="2606040"/>
            <a:ext cx="2103120" cy="360"/>
          </a:xfrm>
          <a:prstGeom prst="line">
            <a:avLst/>
          </a:prstGeom>
          <a:ln w="19050">
            <a:solidFill>
              <a:srgbClr val="0f1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2"/>
          <p:cNvSpPr/>
          <p:nvPr/>
        </p:nvSpPr>
        <p:spPr>
          <a:xfrm>
            <a:off x="7635240" y="253296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3"/>
          <p:cNvSpPr/>
          <p:nvPr/>
        </p:nvSpPr>
        <p:spPr>
          <a:xfrm>
            <a:off x="5696640" y="237744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findById(memberId) → Member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4"/>
          <p:cNvSpPr/>
          <p:nvPr/>
        </p:nvSpPr>
        <p:spPr>
          <a:xfrm>
            <a:off x="5696640" y="2971800"/>
            <a:ext cx="2103120" cy="360"/>
          </a:xfrm>
          <a:prstGeom prst="line">
            <a:avLst/>
          </a:prstGeom>
          <a:ln w="19050">
            <a:solidFill>
              <a:srgbClr val="0f1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5"/>
          <p:cNvSpPr/>
          <p:nvPr/>
        </p:nvSpPr>
        <p:spPr>
          <a:xfrm>
            <a:off x="7635240" y="289872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6"/>
          <p:cNvSpPr/>
          <p:nvPr/>
        </p:nvSpPr>
        <p:spPr>
          <a:xfrm>
            <a:off x="5696640" y="274320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findByBarcode() → BookItem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7"/>
          <p:cNvSpPr/>
          <p:nvPr/>
        </p:nvSpPr>
        <p:spPr>
          <a:xfrm>
            <a:off x="5696640" y="3337560"/>
            <a:ext cx="2103120" cy="360"/>
          </a:xfrm>
          <a:prstGeom prst="line">
            <a:avLst/>
          </a:prstGeom>
          <a:ln w="19050">
            <a:solidFill>
              <a:srgbClr val="0f1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8"/>
          <p:cNvSpPr/>
          <p:nvPr/>
        </p:nvSpPr>
        <p:spPr>
          <a:xfrm>
            <a:off x="7635240" y="326448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9"/>
          <p:cNvSpPr/>
          <p:nvPr/>
        </p:nvSpPr>
        <p:spPr>
          <a:xfrm>
            <a:off x="5696640" y="310896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countByMemberAndStatus() → check quota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30"/>
          <p:cNvSpPr/>
          <p:nvPr/>
        </p:nvSpPr>
        <p:spPr>
          <a:xfrm>
            <a:off x="5696640" y="3703320"/>
            <a:ext cx="2103120" cy="360"/>
          </a:xfrm>
          <a:prstGeom prst="line">
            <a:avLst/>
          </a:prstGeom>
          <a:ln w="19050">
            <a:solidFill>
              <a:srgbClr val="0f1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31"/>
          <p:cNvSpPr/>
          <p:nvPr/>
        </p:nvSpPr>
        <p:spPr>
          <a:xfrm>
            <a:off x="7635240" y="363024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2"/>
          <p:cNvSpPr/>
          <p:nvPr/>
        </p:nvSpPr>
        <p:spPr>
          <a:xfrm>
            <a:off x="5696640" y="347472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save(BORROWED) + save(Borrow)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33"/>
          <p:cNvSpPr/>
          <p:nvPr/>
        </p:nvSpPr>
        <p:spPr>
          <a:xfrm>
            <a:off x="1398960" y="4160520"/>
            <a:ext cx="2103120" cy="360"/>
          </a:xfrm>
          <a:prstGeom prst="line">
            <a:avLst/>
          </a:prstGeom>
          <a:ln w="19050">
            <a:solidFill>
              <a:srgbClr val="0891b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4"/>
          <p:cNvSpPr/>
          <p:nvPr/>
        </p:nvSpPr>
        <p:spPr>
          <a:xfrm>
            <a:off x="1389960" y="408744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none" strike="noStrik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5"/>
          <p:cNvSpPr/>
          <p:nvPr/>
        </p:nvSpPr>
        <p:spPr>
          <a:xfrm>
            <a:off x="1398960" y="393192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201 Created — BorrowDTO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36"/>
          <p:cNvSpPr/>
          <p:nvPr/>
        </p:nvSpPr>
        <p:spPr>
          <a:xfrm>
            <a:off x="6949440" y="2395800"/>
            <a:ext cx="1828440" cy="1645560"/>
          </a:xfrm>
          <a:prstGeom prst="rect">
            <a:avLst/>
          </a:prstGeom>
          <a:solidFill>
            <a:srgbClr val="0f1e4a"/>
          </a:solidFill>
          <a:ln w="0">
            <a:noFill/>
          </a:ln>
          <a:effectLst>
            <a:outerShdw algn="bl" blurRad="12708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7"/>
          <p:cNvSpPr/>
          <p:nvPr/>
        </p:nvSpPr>
        <p:spPr>
          <a:xfrm>
            <a:off x="6949440" y="2395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Validations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8"/>
          <p:cNvSpPr/>
          <p:nvPr/>
        </p:nvSpPr>
        <p:spPr>
          <a:xfrm>
            <a:off x="7086600" y="2788920"/>
            <a:ext cx="15541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✓ BookItem AVAILABLE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✓ Quota non dépassé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✓ renewalCount ≤ 3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"/>
          <p:cNvSpPr/>
          <p:nvPr/>
        </p:nvSpPr>
        <p:spPr>
          <a:xfrm>
            <a:off x="411480" y="2559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Réservation &amp; File d'Attente FIFO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"/>
          <p:cNvSpPr/>
          <p:nvPr/>
        </p:nvSpPr>
        <p:spPr>
          <a:xfrm>
            <a:off x="411480" y="96012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File d'Attente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3"/>
          <p:cNvSpPr/>
          <p:nvPr/>
        </p:nvSpPr>
        <p:spPr>
          <a:xfrm>
            <a:off x="411480" y="1417320"/>
            <a:ext cx="4663080" cy="80424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4"/>
          <p:cNvSpPr/>
          <p:nvPr/>
        </p:nvSpPr>
        <p:spPr>
          <a:xfrm>
            <a:off x="411480" y="1417320"/>
            <a:ext cx="868320" cy="80424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5"/>
          <p:cNvSpPr/>
          <p:nvPr/>
        </p:nvSpPr>
        <p:spPr>
          <a:xfrm>
            <a:off x="411480" y="1417320"/>
            <a:ext cx="8683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#1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6"/>
          <p:cNvSpPr/>
          <p:nvPr/>
        </p:nvSpPr>
        <p:spPr>
          <a:xfrm>
            <a:off x="1417320" y="150876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Membre 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7"/>
          <p:cNvSpPr/>
          <p:nvPr/>
        </p:nvSpPr>
        <p:spPr>
          <a:xfrm>
            <a:off x="1417320" y="1874520"/>
            <a:ext cx="1005480" cy="246600"/>
          </a:xfrm>
          <a:prstGeom prst="roundRect">
            <a:avLst>
              <a:gd name="adj" fmla="val 22222"/>
            </a:avLst>
          </a:prstGeom>
          <a:solidFill>
            <a:srgbClr val="1a5c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8"/>
          <p:cNvSpPr/>
          <p:nvPr/>
        </p:nvSpPr>
        <p:spPr>
          <a:xfrm>
            <a:off x="1417320" y="1874520"/>
            <a:ext cx="1005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PENDING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9"/>
          <p:cNvSpPr/>
          <p:nvPr/>
        </p:nvSpPr>
        <p:spPr>
          <a:xfrm>
            <a:off x="411480" y="2404800"/>
            <a:ext cx="4663080" cy="80424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0"/>
          <p:cNvSpPr/>
          <p:nvPr/>
        </p:nvSpPr>
        <p:spPr>
          <a:xfrm>
            <a:off x="411480" y="2404800"/>
            <a:ext cx="868320" cy="80424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1"/>
          <p:cNvSpPr/>
          <p:nvPr/>
        </p:nvSpPr>
        <p:spPr>
          <a:xfrm>
            <a:off x="411480" y="2404800"/>
            <a:ext cx="8683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#2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2"/>
          <p:cNvSpPr/>
          <p:nvPr/>
        </p:nvSpPr>
        <p:spPr>
          <a:xfrm>
            <a:off x="1417320" y="24962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Membre B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3"/>
          <p:cNvSpPr/>
          <p:nvPr/>
        </p:nvSpPr>
        <p:spPr>
          <a:xfrm>
            <a:off x="1417320" y="2862000"/>
            <a:ext cx="1005480" cy="246600"/>
          </a:xfrm>
          <a:prstGeom prst="roundRect">
            <a:avLst>
              <a:gd name="adj" fmla="val 22222"/>
            </a:avLst>
          </a:prstGeom>
          <a:solidFill>
            <a:srgbClr val="1a5c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4"/>
          <p:cNvSpPr/>
          <p:nvPr/>
        </p:nvSpPr>
        <p:spPr>
          <a:xfrm>
            <a:off x="1417320" y="2862000"/>
            <a:ext cx="1005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PENDING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5"/>
          <p:cNvSpPr/>
          <p:nvPr/>
        </p:nvSpPr>
        <p:spPr>
          <a:xfrm>
            <a:off x="411480" y="3392280"/>
            <a:ext cx="4663080" cy="80424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6"/>
          <p:cNvSpPr/>
          <p:nvPr/>
        </p:nvSpPr>
        <p:spPr>
          <a:xfrm>
            <a:off x="411480" y="3392280"/>
            <a:ext cx="868320" cy="80424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7"/>
          <p:cNvSpPr/>
          <p:nvPr/>
        </p:nvSpPr>
        <p:spPr>
          <a:xfrm>
            <a:off x="411480" y="3392280"/>
            <a:ext cx="8683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#3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8"/>
          <p:cNvSpPr/>
          <p:nvPr/>
        </p:nvSpPr>
        <p:spPr>
          <a:xfrm>
            <a:off x="1417320" y="34837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Membre 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9"/>
          <p:cNvSpPr/>
          <p:nvPr/>
        </p:nvSpPr>
        <p:spPr>
          <a:xfrm>
            <a:off x="1417320" y="3849480"/>
            <a:ext cx="1005480" cy="246600"/>
          </a:xfrm>
          <a:prstGeom prst="roundRect">
            <a:avLst>
              <a:gd name="adj" fmla="val 22222"/>
            </a:avLst>
          </a:prstGeom>
          <a:solidFill>
            <a:srgbClr val="1a5c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0"/>
          <p:cNvSpPr/>
          <p:nvPr/>
        </p:nvSpPr>
        <p:spPr>
          <a:xfrm>
            <a:off x="1417320" y="3849480"/>
            <a:ext cx="1005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PENDING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1"/>
          <p:cNvSpPr/>
          <p:nvPr/>
        </p:nvSpPr>
        <p:spPr>
          <a:xfrm>
            <a:off x="411480" y="440748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→  Livre disponible  →  Membre #1 notifié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2"/>
          <p:cNvSpPr/>
          <p:nvPr/>
        </p:nvSpPr>
        <p:spPr>
          <a:xfrm>
            <a:off x="5394960" y="960120"/>
            <a:ext cx="3382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Logique FIFO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3"/>
          <p:cNvSpPr/>
          <p:nvPr/>
        </p:nvSpPr>
        <p:spPr>
          <a:xfrm>
            <a:off x="5394960" y="1417320"/>
            <a:ext cx="3382920" cy="749520"/>
          </a:xfrm>
          <a:prstGeom prst="rect">
            <a:avLst/>
          </a:prstGeom>
          <a:solidFill>
            <a:srgbClr val="243d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24"/>
          <p:cNvSpPr/>
          <p:nvPr/>
        </p:nvSpPr>
        <p:spPr>
          <a:xfrm>
            <a:off x="5394960" y="1417320"/>
            <a:ext cx="50040" cy="7495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5"/>
          <p:cNvSpPr/>
          <p:nvPr/>
        </p:nvSpPr>
        <p:spPr>
          <a:xfrm>
            <a:off x="5577840" y="14630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queuePosition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6"/>
          <p:cNvSpPr/>
          <p:nvPr/>
        </p:nvSpPr>
        <p:spPr>
          <a:xfrm>
            <a:off x="5577840" y="176472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Calculée automatiquement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27"/>
          <p:cNvSpPr/>
          <p:nvPr/>
        </p:nvSpPr>
        <p:spPr>
          <a:xfrm>
            <a:off x="5394960" y="2331720"/>
            <a:ext cx="3382920" cy="749520"/>
          </a:xfrm>
          <a:prstGeom prst="rect">
            <a:avLst/>
          </a:prstGeom>
          <a:solidFill>
            <a:srgbClr val="243d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28"/>
          <p:cNvSpPr/>
          <p:nvPr/>
        </p:nvSpPr>
        <p:spPr>
          <a:xfrm>
            <a:off x="5394960" y="2331720"/>
            <a:ext cx="50040" cy="7495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9"/>
          <p:cNvSpPr/>
          <p:nvPr/>
        </p:nvSpPr>
        <p:spPr>
          <a:xfrm>
            <a:off x="5577840" y="23774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Status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30"/>
          <p:cNvSpPr/>
          <p:nvPr/>
        </p:nvSpPr>
        <p:spPr>
          <a:xfrm>
            <a:off x="5577840" y="267912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PENDING → READY → COMPLETED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31"/>
          <p:cNvSpPr/>
          <p:nvPr/>
        </p:nvSpPr>
        <p:spPr>
          <a:xfrm>
            <a:off x="5394960" y="3246120"/>
            <a:ext cx="3382920" cy="749520"/>
          </a:xfrm>
          <a:prstGeom prst="rect">
            <a:avLst/>
          </a:prstGeom>
          <a:solidFill>
            <a:srgbClr val="243d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32"/>
          <p:cNvSpPr/>
          <p:nvPr/>
        </p:nvSpPr>
        <p:spPr>
          <a:xfrm>
            <a:off x="5394960" y="3246120"/>
            <a:ext cx="50040" cy="7495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33"/>
          <p:cNvSpPr/>
          <p:nvPr/>
        </p:nvSpPr>
        <p:spPr>
          <a:xfrm>
            <a:off x="5577840" y="32918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Annulation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34"/>
          <p:cNvSpPr/>
          <p:nvPr/>
        </p:nvSpPr>
        <p:spPr>
          <a:xfrm>
            <a:off x="5577840" y="359352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PENDING uniquement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35"/>
          <p:cNvSpPr/>
          <p:nvPr/>
        </p:nvSpPr>
        <p:spPr>
          <a:xfrm>
            <a:off x="5394960" y="4160520"/>
            <a:ext cx="3382920" cy="749520"/>
          </a:xfrm>
          <a:prstGeom prst="rect">
            <a:avLst/>
          </a:prstGeom>
          <a:solidFill>
            <a:srgbClr val="243d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36"/>
          <p:cNvSpPr/>
          <p:nvPr/>
        </p:nvSpPr>
        <p:spPr>
          <a:xfrm>
            <a:off x="5394960" y="4160520"/>
            <a:ext cx="50040" cy="7495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37"/>
          <p:cNvSpPr/>
          <p:nvPr/>
        </p:nvSpPr>
        <p:spPr>
          <a:xfrm>
            <a:off x="5577840" y="42062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Méthode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38"/>
          <p:cNvSpPr/>
          <p:nvPr/>
        </p:nvSpPr>
        <p:spPr>
          <a:xfrm>
            <a:off x="5577840" y="450792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findMaxQueuePositionForBook + 1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f1e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"/>
          <p:cNvSpPr/>
          <p:nvPr/>
        </p:nvSpPr>
        <p:spPr>
          <a:xfrm>
            <a:off x="411480" y="25596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pc="201" strike="noStrike">
                <a:solidFill>
                  <a:srgbClr val="1a3166"/>
                </a:solidFill>
                <a:effectLst/>
                <a:uFillTx/>
                <a:latin typeface="Calibri"/>
                <a:ea typeface="Calibri"/>
              </a:rPr>
              <a:t>05 · API REST &amp; Sécurité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"/>
          <p:cNvSpPr/>
          <p:nvPr/>
        </p:nvSpPr>
        <p:spPr>
          <a:xfrm>
            <a:off x="411480" y="567000"/>
            <a:ext cx="8320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Endpoints &amp; Spring Security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3"/>
          <p:cNvSpPr/>
          <p:nvPr/>
        </p:nvSpPr>
        <p:spPr>
          <a:xfrm>
            <a:off x="411480" y="1261800"/>
            <a:ext cx="5851800" cy="420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4"/>
          <p:cNvSpPr/>
          <p:nvPr/>
        </p:nvSpPr>
        <p:spPr>
          <a:xfrm>
            <a:off x="411480" y="1261800"/>
            <a:ext cx="731160" cy="4201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5"/>
          <p:cNvSpPr/>
          <p:nvPr/>
        </p:nvSpPr>
        <p:spPr>
          <a:xfrm>
            <a:off x="411480" y="1261800"/>
            <a:ext cx="7311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6"/>
          <p:cNvSpPr/>
          <p:nvPr/>
        </p:nvSpPr>
        <p:spPr>
          <a:xfrm>
            <a:off x="1234440" y="1307520"/>
            <a:ext cx="292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/api/authors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7"/>
          <p:cNvSpPr/>
          <p:nvPr/>
        </p:nvSpPr>
        <p:spPr>
          <a:xfrm>
            <a:off x="4206240" y="1307520"/>
            <a:ext cx="196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Liste des auteurs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8"/>
          <p:cNvSpPr/>
          <p:nvPr/>
        </p:nvSpPr>
        <p:spPr>
          <a:xfrm>
            <a:off x="411480" y="1719000"/>
            <a:ext cx="5851800" cy="420120"/>
          </a:xfrm>
          <a:prstGeom prst="rect">
            <a:avLst/>
          </a:prstGeom>
          <a:solidFill>
            <a:srgbClr val="f8fa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9"/>
          <p:cNvSpPr/>
          <p:nvPr/>
        </p:nvSpPr>
        <p:spPr>
          <a:xfrm>
            <a:off x="411480" y="1719000"/>
            <a:ext cx="731160" cy="42012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0"/>
          <p:cNvSpPr/>
          <p:nvPr/>
        </p:nvSpPr>
        <p:spPr>
          <a:xfrm>
            <a:off x="411480" y="1719000"/>
            <a:ext cx="7311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1"/>
          <p:cNvSpPr/>
          <p:nvPr/>
        </p:nvSpPr>
        <p:spPr>
          <a:xfrm>
            <a:off x="1234440" y="1764720"/>
            <a:ext cx="292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/api/authors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2"/>
          <p:cNvSpPr/>
          <p:nvPr/>
        </p:nvSpPr>
        <p:spPr>
          <a:xfrm>
            <a:off x="4206240" y="1764720"/>
            <a:ext cx="196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Créer un auteur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3"/>
          <p:cNvSpPr/>
          <p:nvPr/>
        </p:nvSpPr>
        <p:spPr>
          <a:xfrm>
            <a:off x="411480" y="2176200"/>
            <a:ext cx="5851800" cy="420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4"/>
          <p:cNvSpPr/>
          <p:nvPr/>
        </p:nvSpPr>
        <p:spPr>
          <a:xfrm>
            <a:off x="411480" y="2176200"/>
            <a:ext cx="731160" cy="4201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5"/>
          <p:cNvSpPr/>
          <p:nvPr/>
        </p:nvSpPr>
        <p:spPr>
          <a:xfrm>
            <a:off x="411480" y="2176200"/>
            <a:ext cx="7311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6"/>
          <p:cNvSpPr/>
          <p:nvPr/>
        </p:nvSpPr>
        <p:spPr>
          <a:xfrm>
            <a:off x="1234440" y="2221920"/>
            <a:ext cx="292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/api/books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7"/>
          <p:cNvSpPr/>
          <p:nvPr/>
        </p:nvSpPr>
        <p:spPr>
          <a:xfrm>
            <a:off x="4206240" y="2221920"/>
            <a:ext cx="196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Catalogue complet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8"/>
          <p:cNvSpPr/>
          <p:nvPr/>
        </p:nvSpPr>
        <p:spPr>
          <a:xfrm>
            <a:off x="411480" y="2633400"/>
            <a:ext cx="5851800" cy="420120"/>
          </a:xfrm>
          <a:prstGeom prst="rect">
            <a:avLst/>
          </a:prstGeom>
          <a:solidFill>
            <a:srgbClr val="f8fa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9"/>
          <p:cNvSpPr/>
          <p:nvPr/>
        </p:nvSpPr>
        <p:spPr>
          <a:xfrm>
            <a:off x="411480" y="2633400"/>
            <a:ext cx="731160" cy="42012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0"/>
          <p:cNvSpPr/>
          <p:nvPr/>
        </p:nvSpPr>
        <p:spPr>
          <a:xfrm>
            <a:off x="411480" y="2633400"/>
            <a:ext cx="7311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1"/>
          <p:cNvSpPr/>
          <p:nvPr/>
        </p:nvSpPr>
        <p:spPr>
          <a:xfrm>
            <a:off x="1234440" y="2679120"/>
            <a:ext cx="292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/api/borrows/checkout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2"/>
          <p:cNvSpPr/>
          <p:nvPr/>
        </p:nvSpPr>
        <p:spPr>
          <a:xfrm>
            <a:off x="4206240" y="2679120"/>
            <a:ext cx="196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Emprunter un livre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23"/>
          <p:cNvSpPr/>
          <p:nvPr/>
        </p:nvSpPr>
        <p:spPr>
          <a:xfrm>
            <a:off x="411480" y="3090600"/>
            <a:ext cx="5851800" cy="420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24"/>
          <p:cNvSpPr/>
          <p:nvPr/>
        </p:nvSpPr>
        <p:spPr>
          <a:xfrm>
            <a:off x="411480" y="3090600"/>
            <a:ext cx="731160" cy="42012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25"/>
          <p:cNvSpPr/>
          <p:nvPr/>
        </p:nvSpPr>
        <p:spPr>
          <a:xfrm>
            <a:off x="411480" y="3090600"/>
            <a:ext cx="7311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6"/>
          <p:cNvSpPr/>
          <p:nvPr/>
        </p:nvSpPr>
        <p:spPr>
          <a:xfrm>
            <a:off x="1234440" y="3136320"/>
            <a:ext cx="292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/api/borrows/{id}/return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7"/>
          <p:cNvSpPr/>
          <p:nvPr/>
        </p:nvSpPr>
        <p:spPr>
          <a:xfrm>
            <a:off x="4206240" y="3136320"/>
            <a:ext cx="196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Retourner un livre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28"/>
          <p:cNvSpPr/>
          <p:nvPr/>
        </p:nvSpPr>
        <p:spPr>
          <a:xfrm>
            <a:off x="411480" y="3547800"/>
            <a:ext cx="5851800" cy="420120"/>
          </a:xfrm>
          <a:prstGeom prst="rect">
            <a:avLst/>
          </a:prstGeom>
          <a:solidFill>
            <a:srgbClr val="f8fa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29"/>
          <p:cNvSpPr/>
          <p:nvPr/>
        </p:nvSpPr>
        <p:spPr>
          <a:xfrm>
            <a:off x="411480" y="3547800"/>
            <a:ext cx="731160" cy="42012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30"/>
          <p:cNvSpPr/>
          <p:nvPr/>
        </p:nvSpPr>
        <p:spPr>
          <a:xfrm>
            <a:off x="411480" y="3547800"/>
            <a:ext cx="7311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31"/>
          <p:cNvSpPr/>
          <p:nvPr/>
        </p:nvSpPr>
        <p:spPr>
          <a:xfrm>
            <a:off x="1234440" y="3593520"/>
            <a:ext cx="292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/api/borrows/{id}/renew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32"/>
          <p:cNvSpPr/>
          <p:nvPr/>
        </p:nvSpPr>
        <p:spPr>
          <a:xfrm>
            <a:off x="4206240" y="3593520"/>
            <a:ext cx="196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Renouveler (max 3×)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33"/>
          <p:cNvSpPr/>
          <p:nvPr/>
        </p:nvSpPr>
        <p:spPr>
          <a:xfrm>
            <a:off x="411480" y="4005000"/>
            <a:ext cx="5851800" cy="420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34"/>
          <p:cNvSpPr/>
          <p:nvPr/>
        </p:nvSpPr>
        <p:spPr>
          <a:xfrm>
            <a:off x="411480" y="4005000"/>
            <a:ext cx="731160" cy="42012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35"/>
          <p:cNvSpPr/>
          <p:nvPr/>
        </p:nvSpPr>
        <p:spPr>
          <a:xfrm>
            <a:off x="411480" y="4005000"/>
            <a:ext cx="7311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6"/>
          <p:cNvSpPr/>
          <p:nvPr/>
        </p:nvSpPr>
        <p:spPr>
          <a:xfrm>
            <a:off x="1234440" y="4050720"/>
            <a:ext cx="292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/api/reservations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7"/>
          <p:cNvSpPr/>
          <p:nvPr/>
        </p:nvSpPr>
        <p:spPr>
          <a:xfrm>
            <a:off x="4206240" y="4050720"/>
            <a:ext cx="196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Réserver un livre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38"/>
          <p:cNvSpPr/>
          <p:nvPr/>
        </p:nvSpPr>
        <p:spPr>
          <a:xfrm>
            <a:off x="411480" y="4462200"/>
            <a:ext cx="5851800" cy="420120"/>
          </a:xfrm>
          <a:prstGeom prst="rect">
            <a:avLst/>
          </a:prstGeom>
          <a:solidFill>
            <a:srgbClr val="f8fa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39"/>
          <p:cNvSpPr/>
          <p:nvPr/>
        </p:nvSpPr>
        <p:spPr>
          <a:xfrm>
            <a:off x="411480" y="4462200"/>
            <a:ext cx="731160" cy="4201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40"/>
          <p:cNvSpPr/>
          <p:nvPr/>
        </p:nvSpPr>
        <p:spPr>
          <a:xfrm>
            <a:off x="411480" y="4462200"/>
            <a:ext cx="7311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41"/>
          <p:cNvSpPr/>
          <p:nvPr/>
        </p:nvSpPr>
        <p:spPr>
          <a:xfrm>
            <a:off x="1234440" y="4507920"/>
            <a:ext cx="292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/api/reservations/queue/{id}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42"/>
          <p:cNvSpPr/>
          <p:nvPr/>
        </p:nvSpPr>
        <p:spPr>
          <a:xfrm>
            <a:off x="4206240" y="4507920"/>
            <a:ext cx="196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File d'attente FIFO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43"/>
          <p:cNvSpPr/>
          <p:nvPr/>
        </p:nvSpPr>
        <p:spPr>
          <a:xfrm>
            <a:off x="6492240" y="1261800"/>
            <a:ext cx="2331360" cy="3629880"/>
          </a:xfrm>
          <a:prstGeom prst="rect">
            <a:avLst/>
          </a:prstGeom>
          <a:solidFill>
            <a:srgbClr val="0f1e4a"/>
          </a:solidFill>
          <a:ln w="0">
            <a:noFill/>
          </a:ln>
          <a:effectLst>
            <a:outerShdw algn="bl" blurRad="15228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3" name="Image 0" descr="preencoded.png"/>
          <p:cNvPicPr/>
          <p:nvPr/>
        </p:nvPicPr>
        <p:blipFill>
          <a:blip r:embed="rId1"/>
          <a:stretch/>
        </p:blipFill>
        <p:spPr>
          <a:xfrm>
            <a:off x="7040880" y="13716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Text 44"/>
          <p:cNvSpPr/>
          <p:nvPr/>
        </p:nvSpPr>
        <p:spPr>
          <a:xfrm>
            <a:off x="6492240" y="137160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Sécurité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45"/>
          <p:cNvSpPr/>
          <p:nvPr/>
        </p:nvSpPr>
        <p:spPr>
          <a:xfrm>
            <a:off x="6583680" y="2030040"/>
            <a:ext cx="2121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· Basic Auth (HTTP)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46"/>
          <p:cNvSpPr/>
          <p:nvPr/>
        </p:nvSpPr>
        <p:spPr>
          <a:xfrm>
            <a:off x="6583680" y="2523600"/>
            <a:ext cx="2121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· CSRF désactivé (REST)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47"/>
          <p:cNvSpPr/>
          <p:nvPr/>
        </p:nvSpPr>
        <p:spPr>
          <a:xfrm>
            <a:off x="6583680" y="3017520"/>
            <a:ext cx="2121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· BCrypt (mots de passe)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48"/>
          <p:cNvSpPr/>
          <p:nvPr/>
        </p:nvSpPr>
        <p:spPr>
          <a:xfrm>
            <a:off x="6583680" y="3511440"/>
            <a:ext cx="2121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· Rôle ADMIN : /api/admin/**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49"/>
          <p:cNvSpPr/>
          <p:nvPr/>
        </p:nvSpPr>
        <p:spPr>
          <a:xfrm>
            <a:off x="6583680" y="4005000"/>
            <a:ext cx="2121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· Rôle USER : autres endpoints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50"/>
          <p:cNvSpPr/>
          <p:nvPr/>
        </p:nvSpPr>
        <p:spPr>
          <a:xfrm>
            <a:off x="6583680" y="4498920"/>
            <a:ext cx="2121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· HTTP 401 si non authentifié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"/>
          <p:cNvSpPr/>
          <p:nvPr/>
        </p:nvSpPr>
        <p:spPr>
          <a:xfrm>
            <a:off x="411480" y="25596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pc="201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06 · Tests &amp; Validation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"/>
          <p:cNvSpPr/>
          <p:nvPr/>
        </p:nvSpPr>
        <p:spPr>
          <a:xfrm>
            <a:off x="411480" y="5670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Résultats du Build &amp; Stratégie de Test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3"/>
          <p:cNvSpPr/>
          <p:nvPr/>
        </p:nvSpPr>
        <p:spPr>
          <a:xfrm>
            <a:off x="411480" y="1234440"/>
            <a:ext cx="8320680" cy="658080"/>
          </a:xfrm>
          <a:prstGeom prst="rect">
            <a:avLst/>
          </a:prstGeom>
          <a:solidFill>
            <a:srgbClr val="0f4c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4"/>
          <p:cNvSpPr/>
          <p:nvPr/>
        </p:nvSpPr>
        <p:spPr>
          <a:xfrm>
            <a:off x="411480" y="123444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  BUILD SUCCESS — 49 fichiers Java compilés · Java 21 · Maven · 4.575s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5"/>
          <p:cNvSpPr/>
          <p:nvPr/>
        </p:nvSpPr>
        <p:spPr>
          <a:xfrm>
            <a:off x="411480" y="2084760"/>
            <a:ext cx="2742840" cy="2742840"/>
          </a:xfrm>
          <a:prstGeom prst="rect">
            <a:avLst/>
          </a:prstGeom>
          <a:solidFill>
            <a:srgbClr val="243d82"/>
          </a:solidFill>
          <a:ln w="0">
            <a:noFill/>
          </a:ln>
          <a:effectLst>
            <a:outerShdw algn="bl" blurRad="12708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7" name="Image 0" descr="preencoded.png"/>
          <p:cNvPicPr/>
          <p:nvPr/>
        </p:nvPicPr>
        <p:blipFill>
          <a:blip r:embed="rId1"/>
          <a:stretch/>
        </p:blipFill>
        <p:spPr>
          <a:xfrm>
            <a:off x="594360" y="21762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 6"/>
          <p:cNvSpPr/>
          <p:nvPr/>
        </p:nvSpPr>
        <p:spPr>
          <a:xfrm>
            <a:off x="548640" y="274320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Tests Unitaires H2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7"/>
          <p:cNvSpPr/>
          <p:nvPr/>
        </p:nvSpPr>
        <p:spPr>
          <a:xfrm>
            <a:off x="594360" y="321876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· Base H2 en mémoire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8"/>
          <p:cNvSpPr/>
          <p:nvPr/>
        </p:nvSpPr>
        <p:spPr>
          <a:xfrm>
            <a:off x="594360" y="360288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· Profil Spring 'test'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9"/>
          <p:cNvSpPr/>
          <p:nvPr/>
        </p:nvSpPr>
        <p:spPr>
          <a:xfrm>
            <a:off x="594360" y="398664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· Rollback automatique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0"/>
          <p:cNvSpPr/>
          <p:nvPr/>
        </p:nvSpPr>
        <p:spPr>
          <a:xfrm>
            <a:off x="594360" y="437076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· Valide toutes les règles métier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1"/>
          <p:cNvSpPr/>
          <p:nvPr/>
        </p:nvSpPr>
        <p:spPr>
          <a:xfrm>
            <a:off x="3310200" y="2084760"/>
            <a:ext cx="2742840" cy="2742840"/>
          </a:xfrm>
          <a:prstGeom prst="rect">
            <a:avLst/>
          </a:prstGeom>
          <a:solidFill>
            <a:srgbClr val="243d82"/>
          </a:solidFill>
          <a:ln w="0">
            <a:noFill/>
          </a:ln>
          <a:effectLst>
            <a:outerShdw algn="bl" blurRad="12708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4" name="Image 1" descr="preencoded.png"/>
          <p:cNvPicPr/>
          <p:nvPr/>
        </p:nvPicPr>
        <p:blipFill>
          <a:blip r:embed="rId2"/>
          <a:stretch/>
        </p:blipFill>
        <p:spPr>
          <a:xfrm>
            <a:off x="3493080" y="21762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Text 12"/>
          <p:cNvSpPr/>
          <p:nvPr/>
        </p:nvSpPr>
        <p:spPr>
          <a:xfrm>
            <a:off x="3447360" y="274320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Script test_api.sh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3"/>
          <p:cNvSpPr/>
          <p:nvPr/>
        </p:nvSpPr>
        <p:spPr>
          <a:xfrm>
            <a:off x="3493080" y="321876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· Tests cURL automatisés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4"/>
          <p:cNvSpPr/>
          <p:nvPr/>
        </p:nvSpPr>
        <p:spPr>
          <a:xfrm>
            <a:off x="3493080" y="360288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· Tous les endpoints couverts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5"/>
          <p:cNvSpPr/>
          <p:nvPr/>
        </p:nvSpPr>
        <p:spPr>
          <a:xfrm>
            <a:off x="3493080" y="398664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· Auth Basic incluse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6"/>
          <p:cNvSpPr/>
          <p:nvPr/>
        </p:nvSpPr>
        <p:spPr>
          <a:xfrm>
            <a:off x="3493080" y="437076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· Cas d'erreur validés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17"/>
          <p:cNvSpPr/>
          <p:nvPr/>
        </p:nvSpPr>
        <p:spPr>
          <a:xfrm>
            <a:off x="6208920" y="2084760"/>
            <a:ext cx="2742840" cy="2742840"/>
          </a:xfrm>
          <a:prstGeom prst="rect">
            <a:avLst/>
          </a:prstGeom>
          <a:solidFill>
            <a:srgbClr val="f0b429"/>
          </a:solidFill>
          <a:ln w="0">
            <a:noFill/>
          </a:ln>
          <a:effectLst>
            <a:outerShdw algn="bl" blurRad="12708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1" name="Image 2" descr="preencoded.png"/>
          <p:cNvPicPr/>
          <p:nvPr/>
        </p:nvPicPr>
        <p:blipFill>
          <a:blip r:embed="rId3"/>
          <a:stretch/>
        </p:blipFill>
        <p:spPr>
          <a:xfrm>
            <a:off x="6391800" y="21762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Text 18"/>
          <p:cNvSpPr/>
          <p:nvPr/>
        </p:nvSpPr>
        <p:spPr>
          <a:xfrm>
            <a:off x="6346080" y="274320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Gestion des Exceptions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9"/>
          <p:cNvSpPr/>
          <p:nvPr/>
        </p:nvSpPr>
        <p:spPr>
          <a:xfrm>
            <a:off x="6391800" y="321876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· HTTP 404 → ResourceNotFoundException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20"/>
          <p:cNvSpPr/>
          <p:nvPr/>
        </p:nvSpPr>
        <p:spPr>
          <a:xfrm>
            <a:off x="6391800" y="360288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· HTTP 400 → Validation Jakarta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1"/>
          <p:cNvSpPr/>
          <p:nvPr/>
        </p:nvSpPr>
        <p:spPr>
          <a:xfrm>
            <a:off x="6391800" y="398664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· HTTP 500 → Exception générique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22"/>
          <p:cNvSpPr/>
          <p:nvPr/>
        </p:nvSpPr>
        <p:spPr>
          <a:xfrm>
            <a:off x="6391800" y="437076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· Réponses JSON normalisées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f1e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"/>
          <p:cNvSpPr/>
          <p:nvPr/>
        </p:nvSpPr>
        <p:spPr>
          <a:xfrm>
            <a:off x="411480" y="255960"/>
            <a:ext cx="8320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Bilan du Projet en Chiffres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2"/>
          <p:cNvSpPr/>
          <p:nvPr/>
        </p:nvSpPr>
        <p:spPr>
          <a:xfrm>
            <a:off x="411480" y="1078920"/>
            <a:ext cx="2742840" cy="1718640"/>
          </a:xfrm>
          <a:prstGeom prst="rect">
            <a:avLst/>
          </a:prstGeom>
          <a:solidFill>
            <a:srgbClr val="0f1e4a"/>
          </a:solidFill>
          <a:ln w="0">
            <a:noFill/>
          </a:ln>
          <a:effectLst>
            <a:outerShdw algn="bl" blurRad="17784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3"/>
          <p:cNvSpPr/>
          <p:nvPr/>
        </p:nvSpPr>
        <p:spPr>
          <a:xfrm>
            <a:off x="411480" y="1243440"/>
            <a:ext cx="2742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4"/>
          <p:cNvSpPr/>
          <p:nvPr/>
        </p:nvSpPr>
        <p:spPr>
          <a:xfrm>
            <a:off x="411480" y="222192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Entités JPA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5"/>
          <p:cNvSpPr/>
          <p:nvPr/>
        </p:nvSpPr>
        <p:spPr>
          <a:xfrm>
            <a:off x="3310200" y="1078920"/>
            <a:ext cx="2742840" cy="1718640"/>
          </a:xfrm>
          <a:prstGeom prst="rect">
            <a:avLst/>
          </a:prstGeom>
          <a:solidFill>
            <a:srgbClr val="0891b2"/>
          </a:solidFill>
          <a:ln w="0">
            <a:noFill/>
          </a:ln>
          <a:effectLst>
            <a:outerShdw algn="bl" blurRad="17784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6"/>
          <p:cNvSpPr/>
          <p:nvPr/>
        </p:nvSpPr>
        <p:spPr>
          <a:xfrm>
            <a:off x="3310200" y="1243440"/>
            <a:ext cx="2742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7"/>
          <p:cNvSpPr/>
          <p:nvPr/>
        </p:nvSpPr>
        <p:spPr>
          <a:xfrm>
            <a:off x="3310200" y="222192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Repositories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8"/>
          <p:cNvSpPr/>
          <p:nvPr/>
        </p:nvSpPr>
        <p:spPr>
          <a:xfrm>
            <a:off x="6208920" y="1078920"/>
            <a:ext cx="2742840" cy="1718640"/>
          </a:xfrm>
          <a:prstGeom prst="rect">
            <a:avLst/>
          </a:prstGeom>
          <a:solidFill>
            <a:srgbClr val="6b21a8"/>
          </a:solidFill>
          <a:ln w="0">
            <a:noFill/>
          </a:ln>
          <a:effectLst>
            <a:outerShdw algn="bl" blurRad="17784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9"/>
          <p:cNvSpPr/>
          <p:nvPr/>
        </p:nvSpPr>
        <p:spPr>
          <a:xfrm>
            <a:off x="6208920" y="1243440"/>
            <a:ext cx="2742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0"/>
          <p:cNvSpPr/>
          <p:nvPr/>
        </p:nvSpPr>
        <p:spPr>
          <a:xfrm>
            <a:off x="6208920" y="222192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Services Métier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1"/>
          <p:cNvSpPr/>
          <p:nvPr/>
        </p:nvSpPr>
        <p:spPr>
          <a:xfrm>
            <a:off x="411480" y="2999160"/>
            <a:ext cx="2742840" cy="1718640"/>
          </a:xfrm>
          <a:prstGeom prst="rect">
            <a:avLst/>
          </a:prstGeom>
          <a:solidFill>
            <a:srgbClr val="1a5c3e"/>
          </a:solidFill>
          <a:ln w="0">
            <a:noFill/>
          </a:ln>
          <a:effectLst>
            <a:outerShdw algn="bl" blurRad="17784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2"/>
          <p:cNvSpPr/>
          <p:nvPr/>
        </p:nvSpPr>
        <p:spPr>
          <a:xfrm>
            <a:off x="411480" y="3163680"/>
            <a:ext cx="2742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3"/>
          <p:cNvSpPr/>
          <p:nvPr/>
        </p:nvSpPr>
        <p:spPr>
          <a:xfrm>
            <a:off x="411480" y="414216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Controllers REST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4"/>
          <p:cNvSpPr/>
          <p:nvPr/>
        </p:nvSpPr>
        <p:spPr>
          <a:xfrm>
            <a:off x="3310200" y="2999160"/>
            <a:ext cx="2742840" cy="1718640"/>
          </a:xfrm>
          <a:prstGeom prst="rect">
            <a:avLst/>
          </a:prstGeom>
          <a:solidFill>
            <a:srgbClr val="1a3166"/>
          </a:solidFill>
          <a:ln w="0">
            <a:noFill/>
          </a:ln>
          <a:effectLst>
            <a:outerShdw algn="bl" blurRad="17784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5"/>
          <p:cNvSpPr/>
          <p:nvPr/>
        </p:nvSpPr>
        <p:spPr>
          <a:xfrm>
            <a:off x="3310200" y="3163680"/>
            <a:ext cx="2742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49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6"/>
          <p:cNvSpPr/>
          <p:nvPr/>
        </p:nvSpPr>
        <p:spPr>
          <a:xfrm>
            <a:off x="3310200" y="414216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Fichiers Java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17"/>
          <p:cNvSpPr/>
          <p:nvPr/>
        </p:nvSpPr>
        <p:spPr>
          <a:xfrm>
            <a:off x="6208920" y="2999160"/>
            <a:ext cx="2742840" cy="1718640"/>
          </a:xfrm>
          <a:prstGeom prst="rect">
            <a:avLst/>
          </a:prstGeom>
          <a:solidFill>
            <a:srgbClr val="f0b429"/>
          </a:solidFill>
          <a:ln w="0">
            <a:noFill/>
          </a:ln>
          <a:effectLst>
            <a:outerShdw algn="bl" blurRad="17784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8"/>
          <p:cNvSpPr/>
          <p:nvPr/>
        </p:nvSpPr>
        <p:spPr>
          <a:xfrm>
            <a:off x="6208920" y="3163680"/>
            <a:ext cx="2742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200" b="1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100%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9"/>
          <p:cNvSpPr/>
          <p:nvPr/>
        </p:nvSpPr>
        <p:spPr>
          <a:xfrm>
            <a:off x="6208920" y="414216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f1e4a"/>
                </a:solidFill>
                <a:effectLst/>
                <a:uFillTx/>
                <a:latin typeface="Calibri"/>
                <a:ea typeface="Calibri"/>
              </a:rPr>
              <a:t>Fonctionnalités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1"/>
          <p:cNvSpPr/>
          <p:nvPr/>
        </p:nvSpPr>
        <p:spPr>
          <a:xfrm>
            <a:off x="8979480" y="0"/>
            <a:ext cx="164160" cy="514332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2"/>
          <p:cNvSpPr/>
          <p:nvPr/>
        </p:nvSpPr>
        <p:spPr>
          <a:xfrm>
            <a:off x="411480" y="25596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pc="201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07 · Conclusion &amp; Perspectives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3"/>
          <p:cNvSpPr/>
          <p:nvPr/>
        </p:nvSpPr>
        <p:spPr>
          <a:xfrm>
            <a:off x="411480" y="567000"/>
            <a:ext cx="8320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Ce que nous avons livré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4"/>
          <p:cNvSpPr/>
          <p:nvPr/>
        </p:nvSpPr>
        <p:spPr>
          <a:xfrm>
            <a:off x="411480" y="126180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Réalisations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2" name="Image 0" descr="preencoded.png"/>
          <p:cNvPicPr/>
          <p:nvPr/>
        </p:nvPicPr>
        <p:blipFill>
          <a:blip r:embed="rId1"/>
          <a:stretch/>
        </p:blipFill>
        <p:spPr>
          <a:xfrm>
            <a:off x="411480" y="17373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Text 5"/>
          <p:cNvSpPr/>
          <p:nvPr/>
        </p:nvSpPr>
        <p:spPr>
          <a:xfrm>
            <a:off x="804600" y="1691640"/>
            <a:ext cx="416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API REST complète — 17 endpoints couvrant tous les besoins métier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4" name="Image 1" descr="preencoded.png"/>
          <p:cNvPicPr/>
          <p:nvPr/>
        </p:nvPicPr>
        <p:blipFill>
          <a:blip r:embed="rId2"/>
          <a:stretch/>
        </p:blipFill>
        <p:spPr>
          <a:xfrm>
            <a:off x="411480" y="23958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Text 6"/>
          <p:cNvSpPr/>
          <p:nvPr/>
        </p:nvSpPr>
        <p:spPr>
          <a:xfrm>
            <a:off x="804600" y="2350080"/>
            <a:ext cx="416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Intégrité des données — Soft Delete, Optimistic Locking, FIFO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6" name="Image 2" descr="preencoded.png"/>
          <p:cNvPicPr/>
          <p:nvPr/>
        </p:nvPicPr>
        <p:blipFill>
          <a:blip r:embed="rId3"/>
          <a:stretch/>
        </p:blipFill>
        <p:spPr>
          <a:xfrm>
            <a:off x="411480" y="30542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7" name="Text 7"/>
          <p:cNvSpPr/>
          <p:nvPr/>
        </p:nvSpPr>
        <p:spPr>
          <a:xfrm>
            <a:off x="804600" y="3008520"/>
            <a:ext cx="416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Sécurité — Spring Security, Basic Auth, rôles ADMIN/USER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8" name="Image 3" descr="preencoded.png"/>
          <p:cNvPicPr/>
          <p:nvPr/>
        </p:nvPicPr>
        <p:blipFill>
          <a:blip r:embed="rId4"/>
          <a:stretch/>
        </p:blipFill>
        <p:spPr>
          <a:xfrm>
            <a:off x="411480" y="37123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Text 8"/>
          <p:cNvSpPr/>
          <p:nvPr/>
        </p:nvSpPr>
        <p:spPr>
          <a:xfrm>
            <a:off x="804600" y="3666600"/>
            <a:ext cx="416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Architecture propre — 4 couches, DTOs, GlobalExceptionHandler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0" name="Image 4" descr="preencoded.png"/>
          <p:cNvPicPr/>
          <p:nvPr/>
        </p:nvPicPr>
        <p:blipFill>
          <a:blip r:embed="rId5"/>
          <a:stretch/>
        </p:blipFill>
        <p:spPr>
          <a:xfrm>
            <a:off x="411480" y="43707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Text 9"/>
          <p:cNvSpPr/>
          <p:nvPr/>
        </p:nvSpPr>
        <p:spPr>
          <a:xfrm>
            <a:off x="804600" y="4325040"/>
            <a:ext cx="416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8c8f0"/>
                </a:solidFill>
                <a:effectLst/>
                <a:uFillTx/>
                <a:latin typeface="Calibri"/>
                <a:ea typeface="Calibri"/>
              </a:rPr>
              <a:t>Build 100% réussi — 49 fichiers, Maven, Java 21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0"/>
          <p:cNvSpPr/>
          <p:nvPr/>
        </p:nvSpPr>
        <p:spPr>
          <a:xfrm>
            <a:off x="5074920" y="1234440"/>
            <a:ext cx="27000" cy="3565800"/>
          </a:xfrm>
          <a:prstGeom prst="rect">
            <a:avLst/>
          </a:prstGeom>
          <a:solidFill>
            <a:srgbClr val="243d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1"/>
          <p:cNvSpPr/>
          <p:nvPr/>
        </p:nvSpPr>
        <p:spPr>
          <a:xfrm>
            <a:off x="5257800" y="126180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Perspectives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2"/>
          <p:cNvSpPr/>
          <p:nvPr/>
        </p:nvSpPr>
        <p:spPr>
          <a:xfrm>
            <a:off x="5257800" y="1691640"/>
            <a:ext cx="3382920" cy="47520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3"/>
          <p:cNvSpPr/>
          <p:nvPr/>
        </p:nvSpPr>
        <p:spPr>
          <a:xfrm>
            <a:off x="5257800" y="1691640"/>
            <a:ext cx="50040" cy="4752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6" name="Image 5" descr="preencoded.png"/>
          <p:cNvPicPr/>
          <p:nvPr/>
        </p:nvPicPr>
        <p:blipFill>
          <a:blip r:embed="rId6"/>
          <a:stretch/>
        </p:blipFill>
        <p:spPr>
          <a:xfrm>
            <a:off x="5376600" y="17740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7" name="Text 14"/>
          <p:cNvSpPr/>
          <p:nvPr/>
        </p:nvSpPr>
        <p:spPr>
          <a:xfrm>
            <a:off x="5742360" y="1755720"/>
            <a:ext cx="2834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Authentification JWT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5"/>
          <p:cNvSpPr/>
          <p:nvPr/>
        </p:nvSpPr>
        <p:spPr>
          <a:xfrm>
            <a:off x="5257800" y="2286000"/>
            <a:ext cx="3382920" cy="47520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6"/>
          <p:cNvSpPr/>
          <p:nvPr/>
        </p:nvSpPr>
        <p:spPr>
          <a:xfrm>
            <a:off x="5257800" y="2286000"/>
            <a:ext cx="50040" cy="4752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0" name="Image 6" descr="preencoded.png"/>
          <p:cNvPicPr/>
          <p:nvPr/>
        </p:nvPicPr>
        <p:blipFill>
          <a:blip r:embed="rId7"/>
          <a:stretch/>
        </p:blipFill>
        <p:spPr>
          <a:xfrm>
            <a:off x="5376600" y="23684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Text 17"/>
          <p:cNvSpPr/>
          <p:nvPr/>
        </p:nvSpPr>
        <p:spPr>
          <a:xfrm>
            <a:off x="5742360" y="2350080"/>
            <a:ext cx="2834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Frontend React / Angular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8"/>
          <p:cNvSpPr/>
          <p:nvPr/>
        </p:nvSpPr>
        <p:spPr>
          <a:xfrm>
            <a:off x="5257800" y="2880360"/>
            <a:ext cx="3382920" cy="47520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9"/>
          <p:cNvSpPr/>
          <p:nvPr/>
        </p:nvSpPr>
        <p:spPr>
          <a:xfrm>
            <a:off x="5257800" y="2880360"/>
            <a:ext cx="50040" cy="4752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4" name="Image 7" descr="preencoded.png"/>
          <p:cNvPicPr/>
          <p:nvPr/>
        </p:nvPicPr>
        <p:blipFill>
          <a:blip r:embed="rId8"/>
          <a:stretch/>
        </p:blipFill>
        <p:spPr>
          <a:xfrm>
            <a:off x="5376600" y="29628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5" name="Text 20"/>
          <p:cNvSpPr/>
          <p:nvPr/>
        </p:nvSpPr>
        <p:spPr>
          <a:xfrm>
            <a:off x="5742360" y="2944440"/>
            <a:ext cx="2834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Notifications e-mail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21"/>
          <p:cNvSpPr/>
          <p:nvPr/>
        </p:nvSpPr>
        <p:spPr>
          <a:xfrm>
            <a:off x="5257800" y="3474720"/>
            <a:ext cx="3382920" cy="47520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22"/>
          <p:cNvSpPr/>
          <p:nvPr/>
        </p:nvSpPr>
        <p:spPr>
          <a:xfrm>
            <a:off x="5257800" y="3474720"/>
            <a:ext cx="50040" cy="4752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8" name="Image 8" descr="preencoded.png"/>
          <p:cNvPicPr/>
          <p:nvPr/>
        </p:nvPicPr>
        <p:blipFill>
          <a:blip r:embed="rId9"/>
          <a:stretch/>
        </p:blipFill>
        <p:spPr>
          <a:xfrm>
            <a:off x="5376600" y="35571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9" name="Text 23"/>
          <p:cNvSpPr/>
          <p:nvPr/>
        </p:nvSpPr>
        <p:spPr>
          <a:xfrm>
            <a:off x="5742360" y="3538800"/>
            <a:ext cx="2834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Statistiques &amp; Reporting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24"/>
          <p:cNvSpPr/>
          <p:nvPr/>
        </p:nvSpPr>
        <p:spPr>
          <a:xfrm>
            <a:off x="5257800" y="4069080"/>
            <a:ext cx="3382920" cy="47520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25"/>
          <p:cNvSpPr/>
          <p:nvPr/>
        </p:nvSpPr>
        <p:spPr>
          <a:xfrm>
            <a:off x="5257800" y="4069080"/>
            <a:ext cx="50040" cy="4752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2" name="Image 9" descr="preencoded.png"/>
          <p:cNvPicPr/>
          <p:nvPr/>
        </p:nvPicPr>
        <p:blipFill>
          <a:blip r:embed="rId10"/>
          <a:stretch/>
        </p:blipFill>
        <p:spPr>
          <a:xfrm>
            <a:off x="5376600" y="4151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Text 26"/>
          <p:cNvSpPr/>
          <p:nvPr/>
        </p:nvSpPr>
        <p:spPr>
          <a:xfrm>
            <a:off x="5742360" y="4133160"/>
            <a:ext cx="2834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Gestion des amendes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27"/>
          <p:cNvSpPr/>
          <p:nvPr/>
        </p:nvSpPr>
        <p:spPr>
          <a:xfrm>
            <a:off x="5257800" y="4663440"/>
            <a:ext cx="3382920" cy="475200"/>
          </a:xfrm>
          <a:prstGeom prst="rect">
            <a:avLst/>
          </a:prstGeom>
          <a:solidFill>
            <a:srgbClr val="1a3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28"/>
          <p:cNvSpPr/>
          <p:nvPr/>
        </p:nvSpPr>
        <p:spPr>
          <a:xfrm>
            <a:off x="5257800" y="4663440"/>
            <a:ext cx="50040" cy="4752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6" name="Image 10" descr="preencoded.png"/>
          <p:cNvPicPr/>
          <p:nvPr/>
        </p:nvPicPr>
        <p:blipFill>
          <a:blip r:embed="rId11"/>
          <a:stretch/>
        </p:blipFill>
        <p:spPr>
          <a:xfrm>
            <a:off x="5376600" y="47458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7" name="Text 29"/>
          <p:cNvSpPr/>
          <p:nvPr/>
        </p:nvSpPr>
        <p:spPr>
          <a:xfrm>
            <a:off x="5742360" y="4727520"/>
            <a:ext cx="2834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Documentation Swagger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0"/>
          <p:cNvSpPr/>
          <p:nvPr/>
        </p:nvSpPr>
        <p:spPr>
          <a:xfrm>
            <a:off x="0" y="0"/>
            <a:ext cx="9143640" cy="16416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"/>
          <p:cNvSpPr/>
          <p:nvPr/>
        </p:nvSpPr>
        <p:spPr>
          <a:xfrm>
            <a:off x="0" y="4974480"/>
            <a:ext cx="9143640" cy="164160"/>
          </a:xfrm>
          <a:prstGeom prst="rect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0" name="Image 0" descr="preencoded.png"/>
          <p:cNvPicPr/>
          <p:nvPr/>
        </p:nvPicPr>
        <p:blipFill>
          <a:blip r:embed="rId1">
            <a:alphaModFix amt="80000"/>
          </a:blip>
          <a:stretch/>
        </p:blipFill>
        <p:spPr>
          <a:xfrm>
            <a:off x="3520440" y="457200"/>
            <a:ext cx="2102760" cy="210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1" name="Text 2"/>
          <p:cNvSpPr/>
          <p:nvPr/>
        </p:nvSpPr>
        <p:spPr>
          <a:xfrm>
            <a:off x="457200" y="269748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Merci pour votre attention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3"/>
          <p:cNvSpPr/>
          <p:nvPr/>
        </p:nvSpPr>
        <p:spPr>
          <a:xfrm>
            <a:off x="457200" y="340164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i="1" u="none" strike="noStrike">
                <a:solidFill>
                  <a:srgbClr val="f0b429"/>
                </a:solidFill>
                <a:effectLst/>
                <a:uFillTx/>
                <a:latin typeface="Calibri"/>
                <a:ea typeface="Calibri"/>
              </a:rPr>
              <a:t>Questions &amp; Discussion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4"/>
          <p:cNvSpPr/>
          <p:nvPr/>
        </p:nvSpPr>
        <p:spPr>
          <a:xfrm>
            <a:off x="3200400" y="3913560"/>
            <a:ext cx="2742840" cy="27000"/>
          </a:xfrm>
          <a:prstGeom prst="rect">
            <a:avLst/>
          </a:prstGeom>
          <a:solidFill>
            <a:srgbClr val="243d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5"/>
          <p:cNvSpPr/>
          <p:nvPr/>
        </p:nvSpPr>
        <p:spPr>
          <a:xfrm>
            <a:off x="457200" y="404172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SUPNUM · Nouakchott · 2025-2026  ·  github.com/mohameden19961/springbootprojet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LibreOffice/25.8.5.2$Linux_X86_64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2026-05-20T15:09:15Z</dcterms:created>
  <dc:creator>SupNum 2025-2026</dc:creator>
  <dc:description/>
  <dc:language>en-US</dc:language>
  <cp:lastModifiedBy/>
  <dcterms:modified xsi:type="dcterms:W3CDTF">2026-05-20T15:17:32Z</dcterms:modified>
  <cp:revision>2</cp:revision>
  <dc:subject>PptxGenJS Presentation</dc:subject>
  <dc:title>Système Intelligent de Gestion de Bibliothèque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