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7A1D12F-745C-4372-9AF5-10F86D67506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1A9D055-2F1F-4C13-9018-5ABC7437E92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1CA2149-9DB3-41AD-A039-3C0D9D53D00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4FC9400-F1B3-4A38-BEB3-379E47D9E88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5855D3C-88EB-4E11-856C-E8E91E82E06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2991CD8-7754-445D-8A97-F794BE6DEB6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8E1D345-5A9F-4187-A663-338809B0951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8A82E52-9EB9-4691-9C51-23E06CAFB8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515DA63-9E52-4884-8FEA-393CC8E7D20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F34A2D4-1CE5-452F-B17E-177BA9C6F0C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C75DCA9-4A32-4D7D-9B79-3C4DC41D175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EC6A68B-522A-4B97-A2F5-5CFE1C12788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0A5C3AA-14E6-4F77-BE92-390D9D5F3B7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1EC8B23-DEAE-487A-99C8-F081879B76B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B213776-EA36-4E06-AF8C-D17241B725F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3.png"/><Relationship Id="rId3" Type="http://schemas.openxmlformats.org/officeDocument/2006/relationships/image" Target="../media/image13.png"/><Relationship Id="rId4" Type="http://schemas.openxmlformats.org/officeDocument/2006/relationships/image" Target="../media/image1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1.png"/><Relationship Id="rId3" Type="http://schemas.openxmlformats.org/officeDocument/2006/relationships/image" Target="../media/image15.png"/><Relationship Id="rId4" Type="http://schemas.openxmlformats.org/officeDocument/2006/relationships/image" Target="../media/image10.png"/><Relationship Id="rId5" Type="http://schemas.openxmlformats.org/officeDocument/2006/relationships/image" Target="../media/image9.png"/><Relationship Id="rId6" Type="http://schemas.openxmlformats.org/officeDocument/2006/relationships/image" Target="../media/image1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image" Target="../media/image12.png"/><Relationship Id="rId4" Type="http://schemas.openxmlformats.org/officeDocument/2006/relationships/image" Target="../media/image4.pn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5.png"/><Relationship Id="rId3" Type="http://schemas.openxmlformats.org/officeDocument/2006/relationships/image" Target="../media/image18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19.png"/><Relationship Id="rId3" Type="http://schemas.openxmlformats.org/officeDocument/2006/relationships/image" Target="../media/image19.png"/><Relationship Id="rId4" Type="http://schemas.openxmlformats.org/officeDocument/2006/relationships/image" Target="../media/image19.png"/><Relationship Id="rId5" Type="http://schemas.openxmlformats.org/officeDocument/2006/relationships/image" Target="../media/image19.png"/><Relationship Id="rId6" Type="http://schemas.openxmlformats.org/officeDocument/2006/relationships/image" Target="../media/image18.png"/><Relationship Id="rId7" Type="http://schemas.openxmlformats.org/officeDocument/2006/relationships/image" Target="../media/image16.png"/><Relationship Id="rId8" Type="http://schemas.openxmlformats.org/officeDocument/2006/relationships/image" Target="../media/image18.png"/><Relationship Id="rId9" Type="http://schemas.openxmlformats.org/officeDocument/2006/relationships/image" Target="../media/image20.png"/><Relationship Id="rId10" Type="http://schemas.openxmlformats.org/officeDocument/2006/relationships/image" Target="../media/image18.png"/><Relationship Id="rId11" Type="http://schemas.openxmlformats.org/officeDocument/2006/relationships/image" Target="../media/image5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163800" cy="5142960"/>
          </a:xfrm>
          <a:prstGeom prst="rect">
            <a:avLst/>
          </a:prstGeom>
          <a:solidFill>
            <a:srgbClr val="f0b42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" name="Image 0" descr="preencoded.png"/>
          <p:cNvPicPr/>
          <p:nvPr/>
        </p:nvPicPr>
        <p:blipFill>
          <a:blip r:embed="rId1">
            <a:alphaModFix amt="25000"/>
          </a:blip>
          <a:stretch/>
        </p:blipFill>
        <p:spPr>
          <a:xfrm>
            <a:off x="6400800" y="365760"/>
            <a:ext cx="2559600" cy="255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Text 1"/>
          <p:cNvSpPr/>
          <p:nvPr/>
        </p:nvSpPr>
        <p:spPr>
          <a:xfrm>
            <a:off x="457200" y="411480"/>
            <a:ext cx="7771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pc="201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SUPNUM · Nouakchott · 2025–2026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2"/>
          <p:cNvSpPr/>
          <p:nvPr/>
        </p:nvSpPr>
        <p:spPr>
          <a:xfrm>
            <a:off x="457200" y="1005840"/>
            <a:ext cx="749736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Système Intelligent de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3"/>
          <p:cNvSpPr/>
          <p:nvPr/>
        </p:nvSpPr>
        <p:spPr>
          <a:xfrm>
            <a:off x="457200" y="1645920"/>
            <a:ext cx="749736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400" b="1" u="none" strike="noStrike">
                <a:solidFill>
                  <a:srgbClr val="f0b429"/>
                </a:solidFill>
                <a:effectLst/>
                <a:uFillTx/>
                <a:latin typeface="Calibri"/>
                <a:ea typeface="Calibri"/>
              </a:rPr>
              <a:t>Gestion de Bibliothèque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4"/>
          <p:cNvSpPr/>
          <p:nvPr/>
        </p:nvSpPr>
        <p:spPr>
          <a:xfrm>
            <a:off x="457200" y="2468880"/>
            <a:ext cx="74973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i="1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Library Management System — Backend REST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5"/>
          <p:cNvSpPr/>
          <p:nvPr/>
        </p:nvSpPr>
        <p:spPr>
          <a:xfrm>
            <a:off x="457200" y="3017520"/>
            <a:ext cx="1599480" cy="383400"/>
          </a:xfrm>
          <a:prstGeom prst="roundRect">
            <a:avLst>
              <a:gd name="adj" fmla="val 19048"/>
            </a:avLst>
          </a:prstGeom>
          <a:solidFill>
            <a:srgbClr val="1a31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6"/>
          <p:cNvSpPr/>
          <p:nvPr/>
        </p:nvSpPr>
        <p:spPr>
          <a:xfrm>
            <a:off x="457200" y="3017520"/>
            <a:ext cx="159948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1" u="none" strike="noStrike">
                <a:solidFill>
                  <a:srgbClr val="f0b429"/>
                </a:solidFill>
                <a:effectLst/>
                <a:uFillTx/>
                <a:latin typeface="Calibri"/>
                <a:ea typeface="Calibri"/>
              </a:rPr>
              <a:t>Java 21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7"/>
          <p:cNvSpPr/>
          <p:nvPr/>
        </p:nvSpPr>
        <p:spPr>
          <a:xfrm>
            <a:off x="2148840" y="3017520"/>
            <a:ext cx="1599480" cy="383400"/>
          </a:xfrm>
          <a:prstGeom prst="roundRect">
            <a:avLst>
              <a:gd name="adj" fmla="val 19048"/>
            </a:avLst>
          </a:prstGeom>
          <a:solidFill>
            <a:srgbClr val="1a31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8"/>
          <p:cNvSpPr/>
          <p:nvPr/>
        </p:nvSpPr>
        <p:spPr>
          <a:xfrm>
            <a:off x="2148840" y="3017520"/>
            <a:ext cx="159948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1" u="none" strike="noStrike">
                <a:solidFill>
                  <a:srgbClr val="f0b429"/>
                </a:solidFill>
                <a:effectLst/>
                <a:uFillTx/>
                <a:latin typeface="Calibri"/>
                <a:ea typeface="Calibri"/>
              </a:rPr>
              <a:t>Spring Boot 3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9"/>
          <p:cNvSpPr/>
          <p:nvPr/>
        </p:nvSpPr>
        <p:spPr>
          <a:xfrm>
            <a:off x="3840480" y="3017520"/>
            <a:ext cx="1599480" cy="383400"/>
          </a:xfrm>
          <a:prstGeom prst="roundRect">
            <a:avLst>
              <a:gd name="adj" fmla="val 19048"/>
            </a:avLst>
          </a:prstGeom>
          <a:solidFill>
            <a:srgbClr val="1a31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0"/>
          <p:cNvSpPr/>
          <p:nvPr/>
        </p:nvSpPr>
        <p:spPr>
          <a:xfrm>
            <a:off x="3840480" y="3017520"/>
            <a:ext cx="159948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1" u="none" strike="noStrike">
                <a:solidFill>
                  <a:srgbClr val="f0b429"/>
                </a:solidFill>
                <a:effectLst/>
                <a:uFillTx/>
                <a:latin typeface="Calibri"/>
                <a:ea typeface="Calibri"/>
              </a:rPr>
              <a:t>JPA/Hibernate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11"/>
          <p:cNvSpPr/>
          <p:nvPr/>
        </p:nvSpPr>
        <p:spPr>
          <a:xfrm>
            <a:off x="5532120" y="3017520"/>
            <a:ext cx="1599480" cy="383400"/>
          </a:xfrm>
          <a:prstGeom prst="roundRect">
            <a:avLst>
              <a:gd name="adj" fmla="val 19048"/>
            </a:avLst>
          </a:prstGeom>
          <a:solidFill>
            <a:srgbClr val="1a31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2"/>
          <p:cNvSpPr/>
          <p:nvPr/>
        </p:nvSpPr>
        <p:spPr>
          <a:xfrm>
            <a:off x="5532120" y="3017520"/>
            <a:ext cx="159948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1" u="none" strike="noStrike">
                <a:solidFill>
                  <a:srgbClr val="f0b429"/>
                </a:solidFill>
                <a:effectLst/>
                <a:uFillTx/>
                <a:latin typeface="Calibri"/>
                <a:ea typeface="Calibri"/>
              </a:rPr>
              <a:t>MySQL 8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13"/>
          <p:cNvSpPr/>
          <p:nvPr/>
        </p:nvSpPr>
        <p:spPr>
          <a:xfrm>
            <a:off x="7223760" y="3017520"/>
            <a:ext cx="1599480" cy="383400"/>
          </a:xfrm>
          <a:prstGeom prst="roundRect">
            <a:avLst>
              <a:gd name="adj" fmla="val 19048"/>
            </a:avLst>
          </a:prstGeom>
          <a:solidFill>
            <a:srgbClr val="1a31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4"/>
          <p:cNvSpPr/>
          <p:nvPr/>
        </p:nvSpPr>
        <p:spPr>
          <a:xfrm>
            <a:off x="7223760" y="3017520"/>
            <a:ext cx="159948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1" u="none" strike="noStrike">
                <a:solidFill>
                  <a:srgbClr val="f0b429"/>
                </a:solidFill>
                <a:effectLst/>
                <a:uFillTx/>
                <a:latin typeface="Calibri"/>
                <a:ea typeface="Calibri"/>
              </a:rPr>
              <a:t>Spring Security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15"/>
          <p:cNvSpPr/>
          <p:nvPr/>
        </p:nvSpPr>
        <p:spPr>
          <a:xfrm>
            <a:off x="457200" y="3703320"/>
            <a:ext cx="8228880" cy="17640"/>
          </a:xfrm>
          <a:prstGeom prst="rect">
            <a:avLst/>
          </a:prstGeom>
          <a:solidFill>
            <a:srgbClr val="1a31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6640" bIns="-2664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6"/>
          <p:cNvSpPr/>
          <p:nvPr/>
        </p:nvSpPr>
        <p:spPr>
          <a:xfrm>
            <a:off x="457200" y="379476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Équipe · 24068 · 24139 · 24238 · 24014 · 24157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7"/>
          <p:cNvSpPr/>
          <p:nvPr/>
        </p:nvSpPr>
        <p:spPr>
          <a:xfrm>
            <a:off x="6583680" y="4663440"/>
            <a:ext cx="22852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Projet Springboot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hape 0"/>
          <p:cNvSpPr/>
          <p:nvPr/>
        </p:nvSpPr>
        <p:spPr>
          <a:xfrm>
            <a:off x="0" y="0"/>
            <a:ext cx="163800" cy="5142960"/>
          </a:xfrm>
          <a:prstGeom prst="rect">
            <a:avLst/>
          </a:prstGeom>
          <a:solidFill>
            <a:srgbClr val="0f1e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"/>
          <p:cNvSpPr/>
          <p:nvPr/>
        </p:nvSpPr>
        <p:spPr>
          <a:xfrm>
            <a:off x="411480" y="274320"/>
            <a:ext cx="83203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0f1e4a"/>
                </a:solidFill>
                <a:effectLst/>
                <a:uFillTx/>
                <a:latin typeface="Calibri"/>
                <a:ea typeface="Calibri"/>
              </a:rPr>
              <a:t>Plan de Présentation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2"/>
          <p:cNvSpPr/>
          <p:nvPr/>
        </p:nvSpPr>
        <p:spPr>
          <a:xfrm>
            <a:off x="411480" y="1051560"/>
            <a:ext cx="4114080" cy="7491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3"/>
          <p:cNvSpPr/>
          <p:nvPr/>
        </p:nvSpPr>
        <p:spPr>
          <a:xfrm>
            <a:off x="411480" y="1051560"/>
            <a:ext cx="54000" cy="749160"/>
          </a:xfrm>
          <a:prstGeom prst="rect">
            <a:avLst/>
          </a:prstGeom>
          <a:solidFill>
            <a:srgbClr val="f0b42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4"/>
          <p:cNvSpPr/>
          <p:nvPr/>
        </p:nvSpPr>
        <p:spPr>
          <a:xfrm>
            <a:off x="548640" y="116136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f0b429"/>
                </a:solidFill>
                <a:effectLst/>
                <a:uFillTx/>
                <a:latin typeface="Calibri"/>
                <a:ea typeface="Calibri"/>
              </a:rPr>
              <a:t>01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" name="Image 0" descr="preencoded.png"/>
          <p:cNvPicPr/>
          <p:nvPr/>
        </p:nvPicPr>
        <p:blipFill>
          <a:blip r:embed="rId1"/>
          <a:stretch/>
        </p:blipFill>
        <p:spPr>
          <a:xfrm>
            <a:off x="1069920" y="1207080"/>
            <a:ext cx="38340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Text 5"/>
          <p:cNvSpPr/>
          <p:nvPr/>
        </p:nvSpPr>
        <p:spPr>
          <a:xfrm>
            <a:off x="1527120" y="1170360"/>
            <a:ext cx="28339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Introduction &amp; Contexte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6"/>
          <p:cNvSpPr/>
          <p:nvPr/>
        </p:nvSpPr>
        <p:spPr>
          <a:xfrm>
            <a:off x="411480" y="2011680"/>
            <a:ext cx="4114080" cy="7491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7"/>
          <p:cNvSpPr/>
          <p:nvPr/>
        </p:nvSpPr>
        <p:spPr>
          <a:xfrm>
            <a:off x="411480" y="2011680"/>
            <a:ext cx="54000" cy="749160"/>
          </a:xfrm>
          <a:prstGeom prst="rect">
            <a:avLst/>
          </a:prstGeom>
          <a:solidFill>
            <a:srgbClr val="f0b42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8"/>
          <p:cNvSpPr/>
          <p:nvPr/>
        </p:nvSpPr>
        <p:spPr>
          <a:xfrm>
            <a:off x="548640" y="212148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f0b429"/>
                </a:solidFill>
                <a:effectLst/>
                <a:uFillTx/>
                <a:latin typeface="Calibri"/>
                <a:ea typeface="Calibri"/>
              </a:rPr>
              <a:t>02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" name="Image 1" descr="preencoded.png"/>
          <p:cNvPicPr/>
          <p:nvPr/>
        </p:nvPicPr>
        <p:blipFill>
          <a:blip r:embed="rId2"/>
          <a:stretch/>
        </p:blipFill>
        <p:spPr>
          <a:xfrm>
            <a:off x="1069920" y="2167200"/>
            <a:ext cx="38340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" name="Text 9"/>
          <p:cNvSpPr/>
          <p:nvPr/>
        </p:nvSpPr>
        <p:spPr>
          <a:xfrm>
            <a:off x="1527120" y="2130480"/>
            <a:ext cx="28339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Analyse &amp; Conception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10"/>
          <p:cNvSpPr/>
          <p:nvPr/>
        </p:nvSpPr>
        <p:spPr>
          <a:xfrm>
            <a:off x="411480" y="2971800"/>
            <a:ext cx="4114080" cy="7491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1"/>
          <p:cNvSpPr/>
          <p:nvPr/>
        </p:nvSpPr>
        <p:spPr>
          <a:xfrm>
            <a:off x="411480" y="2971800"/>
            <a:ext cx="54000" cy="749160"/>
          </a:xfrm>
          <a:prstGeom prst="rect">
            <a:avLst/>
          </a:prstGeom>
          <a:solidFill>
            <a:srgbClr val="f0b42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2"/>
          <p:cNvSpPr/>
          <p:nvPr/>
        </p:nvSpPr>
        <p:spPr>
          <a:xfrm>
            <a:off x="548640" y="308160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f0b429"/>
                </a:solidFill>
                <a:effectLst/>
                <a:uFillTx/>
                <a:latin typeface="Calibri"/>
                <a:ea typeface="Calibri"/>
              </a:rPr>
              <a:t>03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" name="Image 2" descr="preencoded.png"/>
          <p:cNvPicPr/>
          <p:nvPr/>
        </p:nvPicPr>
        <p:blipFill>
          <a:blip r:embed="rId3"/>
          <a:stretch/>
        </p:blipFill>
        <p:spPr>
          <a:xfrm>
            <a:off x="1069920" y="3127320"/>
            <a:ext cx="38340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Text 13"/>
          <p:cNvSpPr/>
          <p:nvPr/>
        </p:nvSpPr>
        <p:spPr>
          <a:xfrm>
            <a:off x="1527120" y="3090600"/>
            <a:ext cx="28339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Architecture Technique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4"/>
          <p:cNvSpPr/>
          <p:nvPr/>
        </p:nvSpPr>
        <p:spPr>
          <a:xfrm>
            <a:off x="411480" y="3931920"/>
            <a:ext cx="4114080" cy="7491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15"/>
          <p:cNvSpPr/>
          <p:nvPr/>
        </p:nvSpPr>
        <p:spPr>
          <a:xfrm>
            <a:off x="411480" y="3931920"/>
            <a:ext cx="54000" cy="749160"/>
          </a:xfrm>
          <a:prstGeom prst="rect">
            <a:avLst/>
          </a:prstGeom>
          <a:solidFill>
            <a:srgbClr val="f0b42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6"/>
          <p:cNvSpPr/>
          <p:nvPr/>
        </p:nvSpPr>
        <p:spPr>
          <a:xfrm>
            <a:off x="548640" y="404172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f0b429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" name="Image 3" descr="preencoded.png"/>
          <p:cNvPicPr/>
          <p:nvPr/>
        </p:nvPicPr>
        <p:blipFill>
          <a:blip r:embed="rId4"/>
          <a:stretch/>
        </p:blipFill>
        <p:spPr>
          <a:xfrm>
            <a:off x="1069920" y="4087440"/>
            <a:ext cx="38340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" name="Text 17"/>
          <p:cNvSpPr/>
          <p:nvPr/>
        </p:nvSpPr>
        <p:spPr>
          <a:xfrm>
            <a:off x="1527120" y="4050720"/>
            <a:ext cx="28339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Implémentation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18"/>
          <p:cNvSpPr/>
          <p:nvPr/>
        </p:nvSpPr>
        <p:spPr>
          <a:xfrm>
            <a:off x="4800600" y="1051560"/>
            <a:ext cx="4114080" cy="7491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9"/>
          <p:cNvSpPr/>
          <p:nvPr/>
        </p:nvSpPr>
        <p:spPr>
          <a:xfrm>
            <a:off x="4800600" y="1051560"/>
            <a:ext cx="54000" cy="749160"/>
          </a:xfrm>
          <a:prstGeom prst="rect">
            <a:avLst/>
          </a:prstGeom>
          <a:solidFill>
            <a:srgbClr val="f0b42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20"/>
          <p:cNvSpPr/>
          <p:nvPr/>
        </p:nvSpPr>
        <p:spPr>
          <a:xfrm>
            <a:off x="4937760" y="116136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f0b429"/>
                </a:solidFill>
                <a:effectLst/>
                <a:uFillTx/>
                <a:latin typeface="Calibri"/>
                <a:ea typeface="Calibri"/>
              </a:rPr>
              <a:t>05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" name="Image 4" descr="preencoded.png"/>
          <p:cNvPicPr/>
          <p:nvPr/>
        </p:nvPicPr>
        <p:blipFill>
          <a:blip r:embed="rId5"/>
          <a:stretch/>
        </p:blipFill>
        <p:spPr>
          <a:xfrm>
            <a:off x="5459040" y="1207080"/>
            <a:ext cx="38340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Text 21"/>
          <p:cNvSpPr/>
          <p:nvPr/>
        </p:nvSpPr>
        <p:spPr>
          <a:xfrm>
            <a:off x="5916240" y="1170360"/>
            <a:ext cx="28339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API REST &amp; Sécurité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22"/>
          <p:cNvSpPr/>
          <p:nvPr/>
        </p:nvSpPr>
        <p:spPr>
          <a:xfrm>
            <a:off x="4800600" y="2011680"/>
            <a:ext cx="4114080" cy="7491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23"/>
          <p:cNvSpPr/>
          <p:nvPr/>
        </p:nvSpPr>
        <p:spPr>
          <a:xfrm>
            <a:off x="4800600" y="2011680"/>
            <a:ext cx="54000" cy="749160"/>
          </a:xfrm>
          <a:prstGeom prst="rect">
            <a:avLst/>
          </a:prstGeom>
          <a:solidFill>
            <a:srgbClr val="f0b42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24"/>
          <p:cNvSpPr/>
          <p:nvPr/>
        </p:nvSpPr>
        <p:spPr>
          <a:xfrm>
            <a:off x="4937760" y="212148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f0b429"/>
                </a:solidFill>
                <a:effectLst/>
                <a:uFillTx/>
                <a:latin typeface="Calibri"/>
                <a:ea typeface="Calibri"/>
              </a:rPr>
              <a:t>06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" name="Image 5" descr="preencoded.png"/>
          <p:cNvPicPr/>
          <p:nvPr/>
        </p:nvPicPr>
        <p:blipFill>
          <a:blip r:embed="rId6"/>
          <a:stretch/>
        </p:blipFill>
        <p:spPr>
          <a:xfrm>
            <a:off x="5459040" y="2167200"/>
            <a:ext cx="38340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" name="Text 25"/>
          <p:cNvSpPr/>
          <p:nvPr/>
        </p:nvSpPr>
        <p:spPr>
          <a:xfrm>
            <a:off x="5916240" y="2130480"/>
            <a:ext cx="28339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Tests &amp; Validation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26"/>
          <p:cNvSpPr/>
          <p:nvPr/>
        </p:nvSpPr>
        <p:spPr>
          <a:xfrm>
            <a:off x="4800600" y="2971800"/>
            <a:ext cx="4114080" cy="7491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27"/>
          <p:cNvSpPr/>
          <p:nvPr/>
        </p:nvSpPr>
        <p:spPr>
          <a:xfrm>
            <a:off x="4800600" y="2971800"/>
            <a:ext cx="54000" cy="749160"/>
          </a:xfrm>
          <a:prstGeom prst="rect">
            <a:avLst/>
          </a:prstGeom>
          <a:solidFill>
            <a:srgbClr val="f0b42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28"/>
          <p:cNvSpPr/>
          <p:nvPr/>
        </p:nvSpPr>
        <p:spPr>
          <a:xfrm>
            <a:off x="4937760" y="308160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f0b429"/>
                </a:solidFill>
                <a:effectLst/>
                <a:uFillTx/>
                <a:latin typeface="Calibri"/>
                <a:ea typeface="Calibri"/>
              </a:rPr>
              <a:t>07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" name="Image 6" descr="preencoded.png"/>
          <p:cNvPicPr/>
          <p:nvPr/>
        </p:nvPicPr>
        <p:blipFill>
          <a:blip r:embed="rId7"/>
          <a:stretch/>
        </p:blipFill>
        <p:spPr>
          <a:xfrm>
            <a:off x="5459040" y="3127320"/>
            <a:ext cx="38340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" name="Text 29"/>
          <p:cNvSpPr/>
          <p:nvPr/>
        </p:nvSpPr>
        <p:spPr>
          <a:xfrm>
            <a:off x="5916240" y="3090600"/>
            <a:ext cx="28339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Conclusion &amp; Perspectives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0"/>
          <p:cNvSpPr/>
          <p:nvPr/>
        </p:nvSpPr>
        <p:spPr>
          <a:xfrm>
            <a:off x="0" y="0"/>
            <a:ext cx="163800" cy="5142960"/>
          </a:xfrm>
          <a:prstGeom prst="rect">
            <a:avLst/>
          </a:prstGeom>
          <a:solidFill>
            <a:srgbClr val="f0b42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"/>
          <p:cNvSpPr/>
          <p:nvPr/>
        </p:nvSpPr>
        <p:spPr>
          <a:xfrm>
            <a:off x="411480" y="255960"/>
            <a:ext cx="82288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pc="201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01 · Introduction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2"/>
          <p:cNvSpPr/>
          <p:nvPr/>
        </p:nvSpPr>
        <p:spPr>
          <a:xfrm>
            <a:off x="411480" y="621720"/>
            <a:ext cx="82288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Contexte du Projet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3"/>
          <p:cNvSpPr/>
          <p:nvPr/>
        </p:nvSpPr>
        <p:spPr>
          <a:xfrm>
            <a:off x="411480" y="1508760"/>
            <a:ext cx="4068360" cy="1325160"/>
          </a:xfrm>
          <a:prstGeom prst="rect">
            <a:avLst/>
          </a:prstGeom>
          <a:solidFill>
            <a:srgbClr val="1a3166"/>
          </a:solidFill>
          <a:ln w="0">
            <a:noFill/>
          </a:ln>
          <a:effectLst>
            <a:outerShdw algn="bl" blurRad="152280" dir="8100000" dist="37674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4"/>
          <p:cNvSpPr/>
          <p:nvPr/>
        </p:nvSpPr>
        <p:spPr>
          <a:xfrm>
            <a:off x="411480" y="1508760"/>
            <a:ext cx="54000" cy="1325160"/>
          </a:xfrm>
          <a:prstGeom prst="rect">
            <a:avLst/>
          </a:prstGeom>
          <a:solidFill>
            <a:srgbClr val="f0b42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" name="Image 0" descr="preencoded.png"/>
          <p:cNvPicPr/>
          <p:nvPr/>
        </p:nvPicPr>
        <p:blipFill>
          <a:blip r:embed="rId1"/>
          <a:stretch/>
        </p:blipFill>
        <p:spPr>
          <a:xfrm>
            <a:off x="594360" y="1664280"/>
            <a:ext cx="547920" cy="54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Text 5"/>
          <p:cNvSpPr/>
          <p:nvPr/>
        </p:nvSpPr>
        <p:spPr>
          <a:xfrm>
            <a:off x="1280160" y="1618560"/>
            <a:ext cx="30625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0b429"/>
                </a:solidFill>
                <a:effectLst/>
                <a:uFillTx/>
                <a:latin typeface="Calibri"/>
                <a:ea typeface="Calibri"/>
              </a:rPr>
              <a:t>Suivi complexe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6"/>
          <p:cNvSpPr/>
          <p:nvPr/>
        </p:nvSpPr>
        <p:spPr>
          <a:xfrm>
            <a:off x="1280160" y="1984320"/>
            <a:ext cx="306252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Gestion manuelle des documents et catalogues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7"/>
          <p:cNvSpPr/>
          <p:nvPr/>
        </p:nvSpPr>
        <p:spPr>
          <a:xfrm>
            <a:off x="4709160" y="1508760"/>
            <a:ext cx="4068360" cy="1325160"/>
          </a:xfrm>
          <a:prstGeom prst="rect">
            <a:avLst/>
          </a:prstGeom>
          <a:solidFill>
            <a:srgbClr val="1a3166"/>
          </a:solidFill>
          <a:ln w="0">
            <a:noFill/>
          </a:ln>
          <a:effectLst>
            <a:outerShdw algn="bl" blurRad="152280" dir="8100000" dist="37674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8"/>
          <p:cNvSpPr/>
          <p:nvPr/>
        </p:nvSpPr>
        <p:spPr>
          <a:xfrm>
            <a:off x="4709160" y="1508760"/>
            <a:ext cx="54000" cy="1325160"/>
          </a:xfrm>
          <a:prstGeom prst="rect">
            <a:avLst/>
          </a:prstGeom>
          <a:solidFill>
            <a:srgbClr val="f0b42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" name="Image 1" descr="preencoded.png"/>
          <p:cNvPicPr/>
          <p:nvPr/>
        </p:nvPicPr>
        <p:blipFill>
          <a:blip r:embed="rId2"/>
          <a:stretch/>
        </p:blipFill>
        <p:spPr>
          <a:xfrm>
            <a:off x="4892040" y="1664280"/>
            <a:ext cx="547920" cy="54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Text 9"/>
          <p:cNvSpPr/>
          <p:nvPr/>
        </p:nvSpPr>
        <p:spPr>
          <a:xfrm>
            <a:off x="5577840" y="1618560"/>
            <a:ext cx="30625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0b429"/>
                </a:solidFill>
                <a:effectLst/>
                <a:uFillTx/>
                <a:latin typeface="Calibri"/>
                <a:ea typeface="Calibri"/>
              </a:rPr>
              <a:t>Erreurs humaines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0"/>
          <p:cNvSpPr/>
          <p:nvPr/>
        </p:nvSpPr>
        <p:spPr>
          <a:xfrm>
            <a:off x="5577840" y="1984320"/>
            <a:ext cx="306252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Risque dans l'enregistrement des prêts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11"/>
          <p:cNvSpPr/>
          <p:nvPr/>
        </p:nvSpPr>
        <p:spPr>
          <a:xfrm>
            <a:off x="411480" y="3017520"/>
            <a:ext cx="4068360" cy="1325160"/>
          </a:xfrm>
          <a:prstGeom prst="rect">
            <a:avLst/>
          </a:prstGeom>
          <a:solidFill>
            <a:srgbClr val="1a3166"/>
          </a:solidFill>
          <a:ln w="0">
            <a:noFill/>
          </a:ln>
          <a:effectLst>
            <a:outerShdw algn="bl" blurRad="152280" dir="8100000" dist="37674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12"/>
          <p:cNvSpPr/>
          <p:nvPr/>
        </p:nvSpPr>
        <p:spPr>
          <a:xfrm>
            <a:off x="411480" y="3017520"/>
            <a:ext cx="54000" cy="1325160"/>
          </a:xfrm>
          <a:prstGeom prst="rect">
            <a:avLst/>
          </a:prstGeom>
          <a:solidFill>
            <a:srgbClr val="f0b42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1" name="Image 2" descr="preencoded.png"/>
          <p:cNvPicPr/>
          <p:nvPr/>
        </p:nvPicPr>
        <p:blipFill>
          <a:blip r:embed="rId3"/>
          <a:stretch/>
        </p:blipFill>
        <p:spPr>
          <a:xfrm>
            <a:off x="594360" y="3173040"/>
            <a:ext cx="547920" cy="54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Text 13"/>
          <p:cNvSpPr/>
          <p:nvPr/>
        </p:nvSpPr>
        <p:spPr>
          <a:xfrm>
            <a:off x="1280160" y="3127320"/>
            <a:ext cx="30625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0b429"/>
                </a:solidFill>
                <a:effectLst/>
                <a:uFillTx/>
                <a:latin typeface="Calibri"/>
                <a:ea typeface="Calibri"/>
              </a:rPr>
              <a:t>Files d'attente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4"/>
          <p:cNvSpPr/>
          <p:nvPr/>
        </p:nvSpPr>
        <p:spPr>
          <a:xfrm>
            <a:off x="1280160" y="3493080"/>
            <a:ext cx="306252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Difficile de gérer les livres très demandés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15"/>
          <p:cNvSpPr/>
          <p:nvPr/>
        </p:nvSpPr>
        <p:spPr>
          <a:xfrm>
            <a:off x="4709160" y="3017520"/>
            <a:ext cx="4068360" cy="1325160"/>
          </a:xfrm>
          <a:prstGeom prst="rect">
            <a:avLst/>
          </a:prstGeom>
          <a:solidFill>
            <a:srgbClr val="1a3166"/>
          </a:solidFill>
          <a:ln w="0">
            <a:noFill/>
          </a:ln>
          <a:effectLst>
            <a:outerShdw algn="bl" blurRad="152280" dir="8100000" dist="37674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16"/>
          <p:cNvSpPr/>
          <p:nvPr/>
        </p:nvSpPr>
        <p:spPr>
          <a:xfrm>
            <a:off x="4709160" y="3017520"/>
            <a:ext cx="54000" cy="1325160"/>
          </a:xfrm>
          <a:prstGeom prst="rect">
            <a:avLst/>
          </a:prstGeom>
          <a:solidFill>
            <a:srgbClr val="f0b42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" name="Image 3" descr="preencoded.png"/>
          <p:cNvPicPr/>
          <p:nvPr/>
        </p:nvPicPr>
        <p:blipFill>
          <a:blip r:embed="rId4"/>
          <a:stretch/>
        </p:blipFill>
        <p:spPr>
          <a:xfrm>
            <a:off x="4892040" y="3173040"/>
            <a:ext cx="547920" cy="54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Text 17"/>
          <p:cNvSpPr/>
          <p:nvPr/>
        </p:nvSpPr>
        <p:spPr>
          <a:xfrm>
            <a:off x="5577840" y="3127320"/>
            <a:ext cx="30625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0b429"/>
                </a:solidFill>
                <a:effectLst/>
                <a:uFillTx/>
                <a:latin typeface="Calibri"/>
                <a:ea typeface="Calibri"/>
              </a:rPr>
              <a:t>Traçabilité nulle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8"/>
          <p:cNvSpPr/>
          <p:nvPr/>
        </p:nvSpPr>
        <p:spPr>
          <a:xfrm>
            <a:off x="5577840" y="3493080"/>
            <a:ext cx="306252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Absence d'historique et d'audit des opérations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19"/>
          <p:cNvSpPr/>
          <p:nvPr/>
        </p:nvSpPr>
        <p:spPr>
          <a:xfrm>
            <a:off x="411480" y="4572000"/>
            <a:ext cx="8320320" cy="383400"/>
          </a:xfrm>
          <a:prstGeom prst="roundRect">
            <a:avLst>
              <a:gd name="adj" fmla="val 14286"/>
            </a:avLst>
          </a:prstGeom>
          <a:solidFill>
            <a:srgbClr val="f0b42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20"/>
          <p:cNvSpPr/>
          <p:nvPr/>
        </p:nvSpPr>
        <p:spPr>
          <a:xfrm>
            <a:off x="411480" y="4572000"/>
            <a:ext cx="83203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0f1e4a"/>
                </a:solidFill>
                <a:effectLst/>
                <a:uFillTx/>
                <a:latin typeface="Calibri"/>
                <a:ea typeface="Calibri"/>
              </a:rPr>
              <a:t>→  Solution : une API REST intelligente, moderne et scalable avec Spring Boot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0"/>
          <p:cNvSpPr/>
          <p:nvPr/>
        </p:nvSpPr>
        <p:spPr>
          <a:xfrm>
            <a:off x="0" y="0"/>
            <a:ext cx="163800" cy="5142960"/>
          </a:xfrm>
          <a:prstGeom prst="rect">
            <a:avLst/>
          </a:prstGeom>
          <a:solidFill>
            <a:srgbClr val="0f1e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"/>
          <p:cNvSpPr/>
          <p:nvPr/>
        </p:nvSpPr>
        <p:spPr>
          <a:xfrm>
            <a:off x="411480" y="255960"/>
            <a:ext cx="83203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0f1e4a"/>
                </a:solidFill>
                <a:effectLst/>
                <a:uFillTx/>
                <a:latin typeface="Calibri"/>
                <a:ea typeface="Calibri"/>
              </a:rPr>
              <a:t>Objectifs &amp; Équipe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2"/>
          <p:cNvSpPr/>
          <p:nvPr/>
        </p:nvSpPr>
        <p:spPr>
          <a:xfrm>
            <a:off x="411480" y="960120"/>
            <a:ext cx="42055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a3166"/>
                </a:solidFill>
                <a:effectLst/>
                <a:uFillTx/>
                <a:latin typeface="Calibri"/>
                <a:ea typeface="Calibri"/>
              </a:rPr>
              <a:t>Objectifs Principaux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4" name="Image 0" descr="preencoded.png"/>
          <p:cNvPicPr/>
          <p:nvPr/>
        </p:nvPicPr>
        <p:blipFill>
          <a:blip r:embed="rId1"/>
          <a:stretch/>
        </p:blipFill>
        <p:spPr>
          <a:xfrm>
            <a:off x="411480" y="1435680"/>
            <a:ext cx="291960" cy="291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ext 3"/>
          <p:cNvSpPr/>
          <p:nvPr/>
        </p:nvSpPr>
        <p:spPr>
          <a:xfrm>
            <a:off x="822960" y="1417320"/>
            <a:ext cx="3656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Concevoir une API REST complète pour bibliothèque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6" name="Image 1" descr="preencoded.png"/>
          <p:cNvPicPr/>
          <p:nvPr/>
        </p:nvPicPr>
        <p:blipFill>
          <a:blip r:embed="rId2"/>
          <a:stretch/>
        </p:blipFill>
        <p:spPr>
          <a:xfrm>
            <a:off x="411480" y="2121480"/>
            <a:ext cx="291960" cy="291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" name="Text 4"/>
          <p:cNvSpPr/>
          <p:nvPr/>
        </p:nvSpPr>
        <p:spPr>
          <a:xfrm>
            <a:off x="822960" y="2103120"/>
            <a:ext cx="3656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Implémenter des règles métier précises (quota, FIFO, renouvellements)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8" name="Image 2" descr="preencoded.png"/>
          <p:cNvPicPr/>
          <p:nvPr/>
        </p:nvPicPr>
        <p:blipFill>
          <a:blip r:embed="rId3"/>
          <a:stretch/>
        </p:blipFill>
        <p:spPr>
          <a:xfrm>
            <a:off x="411480" y="2807280"/>
            <a:ext cx="291960" cy="291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" name="Text 5"/>
          <p:cNvSpPr/>
          <p:nvPr/>
        </p:nvSpPr>
        <p:spPr>
          <a:xfrm>
            <a:off x="822960" y="2788920"/>
            <a:ext cx="3656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Assurer l'intégrité via Soft Delete et Optimistic Locking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0" name="Image 3" descr="preencoded.png"/>
          <p:cNvPicPr/>
          <p:nvPr/>
        </p:nvPicPr>
        <p:blipFill>
          <a:blip r:embed="rId4"/>
          <a:stretch/>
        </p:blipFill>
        <p:spPr>
          <a:xfrm>
            <a:off x="411480" y="3493080"/>
            <a:ext cx="291960" cy="291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Text 6"/>
          <p:cNvSpPr/>
          <p:nvPr/>
        </p:nvSpPr>
        <p:spPr>
          <a:xfrm>
            <a:off x="822960" y="3474720"/>
            <a:ext cx="3656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Sécuriser l'API avec Spring Security (Basic Auth + rôles)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7"/>
          <p:cNvSpPr/>
          <p:nvPr/>
        </p:nvSpPr>
        <p:spPr>
          <a:xfrm>
            <a:off x="4709160" y="914400"/>
            <a:ext cx="26640" cy="393120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8"/>
          <p:cNvSpPr/>
          <p:nvPr/>
        </p:nvSpPr>
        <p:spPr>
          <a:xfrm>
            <a:off x="4892040" y="960120"/>
            <a:ext cx="39312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a3166"/>
                </a:solidFill>
                <a:effectLst/>
                <a:uFillTx/>
                <a:latin typeface="Calibri"/>
                <a:ea typeface="Calibri"/>
              </a:rPr>
              <a:t>Répartition de l'Équipe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9"/>
          <p:cNvSpPr/>
          <p:nvPr/>
        </p:nvSpPr>
        <p:spPr>
          <a:xfrm>
            <a:off x="4892040" y="1389960"/>
            <a:ext cx="3931200" cy="59364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76320" dir="8100000" dist="12218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10"/>
          <p:cNvSpPr/>
          <p:nvPr/>
        </p:nvSpPr>
        <p:spPr>
          <a:xfrm>
            <a:off x="4892040" y="1389960"/>
            <a:ext cx="49680" cy="593640"/>
          </a:xfrm>
          <a:prstGeom prst="rect">
            <a:avLst/>
          </a:prstGeom>
          <a:solidFill>
            <a:srgbClr val="f0b42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11"/>
          <p:cNvSpPr/>
          <p:nvPr/>
        </p:nvSpPr>
        <p:spPr>
          <a:xfrm>
            <a:off x="5047560" y="1435680"/>
            <a:ext cx="6850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0b429"/>
                </a:solidFill>
                <a:effectLst/>
                <a:uFillTx/>
                <a:latin typeface="Calibri"/>
                <a:ea typeface="Calibri"/>
              </a:rPr>
              <a:t>24068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12"/>
          <p:cNvSpPr/>
          <p:nvPr/>
        </p:nvSpPr>
        <p:spPr>
          <a:xfrm>
            <a:off x="5742360" y="1454040"/>
            <a:ext cx="1005120" cy="227880"/>
          </a:xfrm>
          <a:prstGeom prst="roundRect">
            <a:avLst>
              <a:gd name="adj" fmla="val 20000"/>
            </a:avLst>
          </a:prstGeom>
          <a:solidFill>
            <a:srgbClr val="0f1e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3"/>
          <p:cNvSpPr/>
          <p:nvPr/>
        </p:nvSpPr>
        <p:spPr>
          <a:xfrm>
            <a:off x="5742360" y="1454040"/>
            <a:ext cx="10051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50" b="1" u="none" strike="noStrike">
                <a:solidFill>
                  <a:srgbClr val="f0b429"/>
                </a:solidFill>
                <a:effectLst/>
                <a:uFillTx/>
                <a:latin typeface="Calibri"/>
                <a:ea typeface="Calibri"/>
              </a:rPr>
              <a:t>Leader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4"/>
          <p:cNvSpPr/>
          <p:nvPr/>
        </p:nvSpPr>
        <p:spPr>
          <a:xfrm>
            <a:off x="5047560" y="1700640"/>
            <a:ext cx="36568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Architecture, Sécurité, BaseEntity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15"/>
          <p:cNvSpPr/>
          <p:nvPr/>
        </p:nvSpPr>
        <p:spPr>
          <a:xfrm>
            <a:off x="4892040" y="2103120"/>
            <a:ext cx="3931200" cy="59364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76320" dir="8100000" dist="12218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6"/>
          <p:cNvSpPr/>
          <p:nvPr/>
        </p:nvSpPr>
        <p:spPr>
          <a:xfrm>
            <a:off x="4892040" y="2103120"/>
            <a:ext cx="49680" cy="593640"/>
          </a:xfrm>
          <a:prstGeom prst="rect">
            <a:avLst/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7"/>
          <p:cNvSpPr/>
          <p:nvPr/>
        </p:nvSpPr>
        <p:spPr>
          <a:xfrm>
            <a:off x="5047560" y="2148840"/>
            <a:ext cx="6850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0891b2"/>
                </a:solidFill>
                <a:effectLst/>
                <a:uFillTx/>
                <a:latin typeface="Calibri"/>
                <a:ea typeface="Calibri"/>
              </a:rPr>
              <a:t>24139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18"/>
          <p:cNvSpPr/>
          <p:nvPr/>
        </p:nvSpPr>
        <p:spPr>
          <a:xfrm>
            <a:off x="5742360" y="2167200"/>
            <a:ext cx="1005120" cy="22788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9"/>
          <p:cNvSpPr/>
          <p:nvPr/>
        </p:nvSpPr>
        <p:spPr>
          <a:xfrm>
            <a:off x="5742360" y="2167200"/>
            <a:ext cx="10051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50" b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Développeur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20"/>
          <p:cNvSpPr/>
          <p:nvPr/>
        </p:nvSpPr>
        <p:spPr>
          <a:xfrm>
            <a:off x="5047560" y="2414160"/>
            <a:ext cx="36568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Tables de référence (Lang, Cat, Auteur…)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21"/>
          <p:cNvSpPr/>
          <p:nvPr/>
        </p:nvSpPr>
        <p:spPr>
          <a:xfrm>
            <a:off x="4892040" y="2816280"/>
            <a:ext cx="3931200" cy="59364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76320" dir="8100000" dist="12218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22"/>
          <p:cNvSpPr/>
          <p:nvPr/>
        </p:nvSpPr>
        <p:spPr>
          <a:xfrm>
            <a:off x="4892040" y="2816280"/>
            <a:ext cx="49680" cy="593640"/>
          </a:xfrm>
          <a:prstGeom prst="rect">
            <a:avLst/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23"/>
          <p:cNvSpPr/>
          <p:nvPr/>
        </p:nvSpPr>
        <p:spPr>
          <a:xfrm>
            <a:off x="5047560" y="2862000"/>
            <a:ext cx="6850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0891b2"/>
                </a:solidFill>
                <a:effectLst/>
                <a:uFillTx/>
                <a:latin typeface="Calibri"/>
                <a:ea typeface="Calibri"/>
              </a:rPr>
              <a:t>24238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24"/>
          <p:cNvSpPr/>
          <p:nvPr/>
        </p:nvSpPr>
        <p:spPr>
          <a:xfrm>
            <a:off x="5742360" y="2880360"/>
            <a:ext cx="1005120" cy="22788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25"/>
          <p:cNvSpPr/>
          <p:nvPr/>
        </p:nvSpPr>
        <p:spPr>
          <a:xfrm>
            <a:off x="5742360" y="2880360"/>
            <a:ext cx="10051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50" b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Développeur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6"/>
          <p:cNvSpPr/>
          <p:nvPr/>
        </p:nvSpPr>
        <p:spPr>
          <a:xfrm>
            <a:off x="5047560" y="3127320"/>
            <a:ext cx="36568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Livres &amp; Exemplaires, Opt. Locking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27"/>
          <p:cNvSpPr/>
          <p:nvPr/>
        </p:nvSpPr>
        <p:spPr>
          <a:xfrm>
            <a:off x="4892040" y="3529440"/>
            <a:ext cx="3931200" cy="59364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76320" dir="8100000" dist="12218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28"/>
          <p:cNvSpPr/>
          <p:nvPr/>
        </p:nvSpPr>
        <p:spPr>
          <a:xfrm>
            <a:off x="4892040" y="3529440"/>
            <a:ext cx="49680" cy="593640"/>
          </a:xfrm>
          <a:prstGeom prst="rect">
            <a:avLst/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29"/>
          <p:cNvSpPr/>
          <p:nvPr/>
        </p:nvSpPr>
        <p:spPr>
          <a:xfrm>
            <a:off x="5047560" y="3575160"/>
            <a:ext cx="6850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0891b2"/>
                </a:solidFill>
                <a:effectLst/>
                <a:uFillTx/>
                <a:latin typeface="Calibri"/>
                <a:ea typeface="Calibri"/>
              </a:rPr>
              <a:t>24014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30"/>
          <p:cNvSpPr/>
          <p:nvPr/>
        </p:nvSpPr>
        <p:spPr>
          <a:xfrm>
            <a:off x="5742360" y="3593520"/>
            <a:ext cx="1005120" cy="22788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31"/>
          <p:cNvSpPr/>
          <p:nvPr/>
        </p:nvSpPr>
        <p:spPr>
          <a:xfrm>
            <a:off x="5742360" y="3593520"/>
            <a:ext cx="10051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50" b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Développeur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32"/>
          <p:cNvSpPr/>
          <p:nvPr/>
        </p:nvSpPr>
        <p:spPr>
          <a:xfrm>
            <a:off x="5047560" y="3840480"/>
            <a:ext cx="36568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Membres, Emprunts, Règles métier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33"/>
          <p:cNvSpPr/>
          <p:nvPr/>
        </p:nvSpPr>
        <p:spPr>
          <a:xfrm>
            <a:off x="4892040" y="4242960"/>
            <a:ext cx="3931200" cy="59364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76320" dir="8100000" dist="12218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34"/>
          <p:cNvSpPr/>
          <p:nvPr/>
        </p:nvSpPr>
        <p:spPr>
          <a:xfrm>
            <a:off x="4892040" y="4242960"/>
            <a:ext cx="49680" cy="593640"/>
          </a:xfrm>
          <a:prstGeom prst="rect">
            <a:avLst/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35"/>
          <p:cNvSpPr/>
          <p:nvPr/>
        </p:nvSpPr>
        <p:spPr>
          <a:xfrm>
            <a:off x="5047560" y="4288680"/>
            <a:ext cx="6850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0891b2"/>
                </a:solidFill>
                <a:effectLst/>
                <a:uFillTx/>
                <a:latin typeface="Calibri"/>
                <a:ea typeface="Calibri"/>
              </a:rPr>
              <a:t>24157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36"/>
          <p:cNvSpPr/>
          <p:nvPr/>
        </p:nvSpPr>
        <p:spPr>
          <a:xfrm>
            <a:off x="5742360" y="4306680"/>
            <a:ext cx="1005120" cy="22788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37"/>
          <p:cNvSpPr/>
          <p:nvPr/>
        </p:nvSpPr>
        <p:spPr>
          <a:xfrm>
            <a:off x="5742360" y="4306680"/>
            <a:ext cx="10051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50" b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Développeur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38"/>
          <p:cNvSpPr/>
          <p:nvPr/>
        </p:nvSpPr>
        <p:spPr>
          <a:xfrm>
            <a:off x="5047560" y="4553640"/>
            <a:ext cx="36568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Réservations, File d'attente FIFO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0"/>
          <p:cNvSpPr/>
          <p:nvPr/>
        </p:nvSpPr>
        <p:spPr>
          <a:xfrm>
            <a:off x="0" y="0"/>
            <a:ext cx="163800" cy="5142960"/>
          </a:xfrm>
          <a:prstGeom prst="rect">
            <a:avLst/>
          </a:prstGeom>
          <a:solidFill>
            <a:srgbClr val="f0b42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1"/>
          <p:cNvSpPr/>
          <p:nvPr/>
        </p:nvSpPr>
        <p:spPr>
          <a:xfrm>
            <a:off x="411480" y="255960"/>
            <a:ext cx="82288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pc="201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02 · Analyse &amp; Conception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2"/>
          <p:cNvSpPr/>
          <p:nvPr/>
        </p:nvSpPr>
        <p:spPr>
          <a:xfrm>
            <a:off x="411480" y="5670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Conceptuel de Données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3"/>
          <p:cNvSpPr/>
          <p:nvPr/>
        </p:nvSpPr>
        <p:spPr>
          <a:xfrm>
            <a:off x="411480" y="1298520"/>
            <a:ext cx="2010960" cy="1050840"/>
          </a:xfrm>
          <a:prstGeom prst="rect">
            <a:avLst/>
          </a:prstGeom>
          <a:solidFill>
            <a:srgbClr val="243d82"/>
          </a:solidFill>
          <a:ln w="0">
            <a:noFill/>
          </a:ln>
          <a:effectLst>
            <a:outerShdw algn="bl" blurRad="127080" dir="8100000" dist="25455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4"/>
          <p:cNvSpPr/>
          <p:nvPr/>
        </p:nvSpPr>
        <p:spPr>
          <a:xfrm>
            <a:off x="411480" y="1298520"/>
            <a:ext cx="2010960" cy="291960"/>
          </a:xfrm>
          <a:prstGeom prst="rect">
            <a:avLst/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5"/>
          <p:cNvSpPr/>
          <p:nvPr/>
        </p:nvSpPr>
        <p:spPr>
          <a:xfrm>
            <a:off x="457200" y="1316880"/>
            <a:ext cx="19195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LANGUAGE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6"/>
          <p:cNvSpPr/>
          <p:nvPr/>
        </p:nvSpPr>
        <p:spPr>
          <a:xfrm>
            <a:off x="457200" y="1645920"/>
            <a:ext cx="19195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Code ISO (PK)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7"/>
          <p:cNvSpPr/>
          <p:nvPr/>
        </p:nvSpPr>
        <p:spPr>
          <a:xfrm>
            <a:off x="2587680" y="1298520"/>
            <a:ext cx="2010960" cy="1050840"/>
          </a:xfrm>
          <a:prstGeom prst="rect">
            <a:avLst/>
          </a:prstGeom>
          <a:solidFill>
            <a:srgbClr val="243d82"/>
          </a:solidFill>
          <a:ln w="0">
            <a:noFill/>
          </a:ln>
          <a:effectLst>
            <a:outerShdw algn="bl" blurRad="127080" dir="8100000" dist="25455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8"/>
          <p:cNvSpPr/>
          <p:nvPr/>
        </p:nvSpPr>
        <p:spPr>
          <a:xfrm>
            <a:off x="2587680" y="1298520"/>
            <a:ext cx="2010960" cy="291960"/>
          </a:xfrm>
          <a:prstGeom prst="rect">
            <a:avLst/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9"/>
          <p:cNvSpPr/>
          <p:nvPr/>
        </p:nvSpPr>
        <p:spPr>
          <a:xfrm>
            <a:off x="2633400" y="1316880"/>
            <a:ext cx="19195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NATIONALITY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0"/>
          <p:cNvSpPr/>
          <p:nvPr/>
        </p:nvSpPr>
        <p:spPr>
          <a:xfrm>
            <a:off x="2633400" y="1645920"/>
            <a:ext cx="19195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Code (PK)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11"/>
          <p:cNvSpPr/>
          <p:nvPr/>
        </p:nvSpPr>
        <p:spPr>
          <a:xfrm>
            <a:off x="4763880" y="1298520"/>
            <a:ext cx="2010960" cy="1050840"/>
          </a:xfrm>
          <a:prstGeom prst="rect">
            <a:avLst/>
          </a:prstGeom>
          <a:solidFill>
            <a:srgbClr val="243d82"/>
          </a:solidFill>
          <a:ln w="0">
            <a:noFill/>
          </a:ln>
          <a:effectLst>
            <a:outerShdw algn="bl" blurRad="127080" dir="8100000" dist="25455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12"/>
          <p:cNvSpPr/>
          <p:nvPr/>
        </p:nvSpPr>
        <p:spPr>
          <a:xfrm>
            <a:off x="4763880" y="1298520"/>
            <a:ext cx="2010960" cy="291960"/>
          </a:xfrm>
          <a:prstGeom prst="rect">
            <a:avLst/>
          </a:prstGeom>
          <a:solidFill>
            <a:srgbClr val="1a31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3"/>
          <p:cNvSpPr/>
          <p:nvPr/>
        </p:nvSpPr>
        <p:spPr>
          <a:xfrm>
            <a:off x="4809600" y="1316880"/>
            <a:ext cx="19195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CATEGORY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14"/>
          <p:cNvSpPr/>
          <p:nvPr/>
        </p:nvSpPr>
        <p:spPr>
          <a:xfrm>
            <a:off x="4809600" y="1645920"/>
            <a:ext cx="19195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Soft Delete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15"/>
          <p:cNvSpPr/>
          <p:nvPr/>
        </p:nvSpPr>
        <p:spPr>
          <a:xfrm>
            <a:off x="6940440" y="1298520"/>
            <a:ext cx="2010960" cy="1050840"/>
          </a:xfrm>
          <a:prstGeom prst="rect">
            <a:avLst/>
          </a:prstGeom>
          <a:solidFill>
            <a:srgbClr val="243d82"/>
          </a:solidFill>
          <a:ln w="0">
            <a:noFill/>
          </a:ln>
          <a:effectLst>
            <a:outerShdw algn="bl" blurRad="127080" dir="8100000" dist="25455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16"/>
          <p:cNvSpPr/>
          <p:nvPr/>
        </p:nvSpPr>
        <p:spPr>
          <a:xfrm>
            <a:off x="6940440" y="1298520"/>
            <a:ext cx="2010960" cy="291960"/>
          </a:xfrm>
          <a:prstGeom prst="rect">
            <a:avLst/>
          </a:prstGeom>
          <a:solidFill>
            <a:srgbClr val="1a31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17"/>
          <p:cNvSpPr/>
          <p:nvPr/>
        </p:nvSpPr>
        <p:spPr>
          <a:xfrm>
            <a:off x="6986160" y="1316880"/>
            <a:ext cx="19195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PUBLISHER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8"/>
          <p:cNvSpPr/>
          <p:nvPr/>
        </p:nvSpPr>
        <p:spPr>
          <a:xfrm>
            <a:off x="6986160" y="1645920"/>
            <a:ext cx="19195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Soft Delete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19"/>
          <p:cNvSpPr/>
          <p:nvPr/>
        </p:nvSpPr>
        <p:spPr>
          <a:xfrm>
            <a:off x="411480" y="2532960"/>
            <a:ext cx="2010960" cy="1050840"/>
          </a:xfrm>
          <a:prstGeom prst="rect">
            <a:avLst/>
          </a:prstGeom>
          <a:solidFill>
            <a:srgbClr val="243d82"/>
          </a:solidFill>
          <a:ln w="0">
            <a:noFill/>
          </a:ln>
          <a:effectLst>
            <a:outerShdw algn="bl" blurRad="127080" dir="8100000" dist="25455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20"/>
          <p:cNvSpPr/>
          <p:nvPr/>
        </p:nvSpPr>
        <p:spPr>
          <a:xfrm>
            <a:off x="411480" y="2532960"/>
            <a:ext cx="2010960" cy="291960"/>
          </a:xfrm>
          <a:prstGeom prst="rect">
            <a:avLst/>
          </a:prstGeom>
          <a:solidFill>
            <a:srgbClr val="1a31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1"/>
          <p:cNvSpPr/>
          <p:nvPr/>
        </p:nvSpPr>
        <p:spPr>
          <a:xfrm>
            <a:off x="457200" y="2551320"/>
            <a:ext cx="19195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AUTHOR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2"/>
          <p:cNvSpPr/>
          <p:nvPr/>
        </p:nvSpPr>
        <p:spPr>
          <a:xfrm>
            <a:off x="457200" y="2880360"/>
            <a:ext cx="19195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Soft Delete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23"/>
          <p:cNvSpPr/>
          <p:nvPr/>
        </p:nvSpPr>
        <p:spPr>
          <a:xfrm>
            <a:off x="2587680" y="2532960"/>
            <a:ext cx="2010960" cy="1050840"/>
          </a:xfrm>
          <a:prstGeom prst="rect">
            <a:avLst/>
          </a:prstGeom>
          <a:solidFill>
            <a:srgbClr val="243d82"/>
          </a:solidFill>
          <a:ln w="0">
            <a:noFill/>
          </a:ln>
          <a:effectLst>
            <a:outerShdw algn="bl" blurRad="127080" dir="8100000" dist="25455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24"/>
          <p:cNvSpPr/>
          <p:nvPr/>
        </p:nvSpPr>
        <p:spPr>
          <a:xfrm>
            <a:off x="2587680" y="2532960"/>
            <a:ext cx="2010960" cy="291960"/>
          </a:xfrm>
          <a:prstGeom prst="rect">
            <a:avLst/>
          </a:prstGeom>
          <a:solidFill>
            <a:srgbClr val="f0b42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25"/>
          <p:cNvSpPr/>
          <p:nvPr/>
        </p:nvSpPr>
        <p:spPr>
          <a:xfrm>
            <a:off x="2633400" y="2551320"/>
            <a:ext cx="19195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BOOK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26"/>
          <p:cNvSpPr/>
          <p:nvPr/>
        </p:nvSpPr>
        <p:spPr>
          <a:xfrm>
            <a:off x="2633400" y="2880360"/>
            <a:ext cx="19195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ISBN unique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27"/>
          <p:cNvSpPr/>
          <p:nvPr/>
        </p:nvSpPr>
        <p:spPr>
          <a:xfrm>
            <a:off x="4763880" y="2532960"/>
            <a:ext cx="2010960" cy="1050840"/>
          </a:xfrm>
          <a:prstGeom prst="rect">
            <a:avLst/>
          </a:prstGeom>
          <a:solidFill>
            <a:srgbClr val="243d82"/>
          </a:solidFill>
          <a:ln w="0">
            <a:noFill/>
          </a:ln>
          <a:effectLst>
            <a:outerShdw algn="bl" blurRad="127080" dir="8100000" dist="25455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28"/>
          <p:cNvSpPr/>
          <p:nvPr/>
        </p:nvSpPr>
        <p:spPr>
          <a:xfrm>
            <a:off x="4763880" y="2532960"/>
            <a:ext cx="2010960" cy="291960"/>
          </a:xfrm>
          <a:prstGeom prst="rect">
            <a:avLst/>
          </a:prstGeom>
          <a:solidFill>
            <a:srgbClr val="f0b42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29"/>
          <p:cNvSpPr/>
          <p:nvPr/>
        </p:nvSpPr>
        <p:spPr>
          <a:xfrm>
            <a:off x="4809600" y="2551320"/>
            <a:ext cx="19195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BOOK_ITEM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30"/>
          <p:cNvSpPr/>
          <p:nvPr/>
        </p:nvSpPr>
        <p:spPr>
          <a:xfrm>
            <a:off x="4809600" y="2880360"/>
            <a:ext cx="19195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@Version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31"/>
          <p:cNvSpPr/>
          <p:nvPr/>
        </p:nvSpPr>
        <p:spPr>
          <a:xfrm>
            <a:off x="6940440" y="2532960"/>
            <a:ext cx="2010960" cy="1050840"/>
          </a:xfrm>
          <a:prstGeom prst="rect">
            <a:avLst/>
          </a:prstGeom>
          <a:solidFill>
            <a:srgbClr val="243d82"/>
          </a:solidFill>
          <a:ln w="0">
            <a:noFill/>
          </a:ln>
          <a:effectLst>
            <a:outerShdw algn="bl" blurRad="127080" dir="8100000" dist="25455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32"/>
          <p:cNvSpPr/>
          <p:nvPr/>
        </p:nvSpPr>
        <p:spPr>
          <a:xfrm>
            <a:off x="6940440" y="2532960"/>
            <a:ext cx="2010960" cy="291960"/>
          </a:xfrm>
          <a:prstGeom prst="rect">
            <a:avLst/>
          </a:prstGeom>
          <a:solidFill>
            <a:srgbClr val="1a31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3"/>
          <p:cNvSpPr/>
          <p:nvPr/>
        </p:nvSpPr>
        <p:spPr>
          <a:xfrm>
            <a:off x="6986160" y="2551320"/>
            <a:ext cx="19195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BOOK_AUTHOR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34"/>
          <p:cNvSpPr/>
          <p:nvPr/>
        </p:nvSpPr>
        <p:spPr>
          <a:xfrm>
            <a:off x="6986160" y="2880360"/>
            <a:ext cx="19195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Clé composée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35"/>
          <p:cNvSpPr/>
          <p:nvPr/>
        </p:nvSpPr>
        <p:spPr>
          <a:xfrm>
            <a:off x="411480" y="3767400"/>
            <a:ext cx="2010960" cy="1050840"/>
          </a:xfrm>
          <a:prstGeom prst="rect">
            <a:avLst/>
          </a:prstGeom>
          <a:solidFill>
            <a:srgbClr val="243d82"/>
          </a:solidFill>
          <a:ln w="0">
            <a:noFill/>
          </a:ln>
          <a:effectLst>
            <a:outerShdw algn="bl" blurRad="127080" dir="8100000" dist="25455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36"/>
          <p:cNvSpPr/>
          <p:nvPr/>
        </p:nvSpPr>
        <p:spPr>
          <a:xfrm>
            <a:off x="411480" y="3767400"/>
            <a:ext cx="2010960" cy="291960"/>
          </a:xfrm>
          <a:prstGeom prst="rect">
            <a:avLst/>
          </a:prstGeom>
          <a:solidFill>
            <a:srgbClr val="1a31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37"/>
          <p:cNvSpPr/>
          <p:nvPr/>
        </p:nvSpPr>
        <p:spPr>
          <a:xfrm>
            <a:off x="457200" y="3785760"/>
            <a:ext cx="19195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MEMBER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38"/>
          <p:cNvSpPr/>
          <p:nvPr/>
        </p:nvSpPr>
        <p:spPr>
          <a:xfrm>
            <a:off x="457200" y="4114800"/>
            <a:ext cx="19195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Soft Delete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39"/>
          <p:cNvSpPr/>
          <p:nvPr/>
        </p:nvSpPr>
        <p:spPr>
          <a:xfrm>
            <a:off x="2587680" y="3767400"/>
            <a:ext cx="2010960" cy="1050840"/>
          </a:xfrm>
          <a:prstGeom prst="rect">
            <a:avLst/>
          </a:prstGeom>
          <a:solidFill>
            <a:srgbClr val="243d82"/>
          </a:solidFill>
          <a:ln w="0">
            <a:noFill/>
          </a:ln>
          <a:effectLst>
            <a:outerShdw algn="bl" blurRad="127080" dir="8100000" dist="25455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40"/>
          <p:cNvSpPr/>
          <p:nvPr/>
        </p:nvSpPr>
        <p:spPr>
          <a:xfrm>
            <a:off x="2587680" y="3767400"/>
            <a:ext cx="2010960" cy="291960"/>
          </a:xfrm>
          <a:prstGeom prst="rect">
            <a:avLst/>
          </a:prstGeom>
          <a:solidFill>
            <a:srgbClr val="1a5c3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41"/>
          <p:cNvSpPr/>
          <p:nvPr/>
        </p:nvSpPr>
        <p:spPr>
          <a:xfrm>
            <a:off x="2633400" y="3785760"/>
            <a:ext cx="19195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BORROW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42"/>
          <p:cNvSpPr/>
          <p:nvPr/>
        </p:nvSpPr>
        <p:spPr>
          <a:xfrm>
            <a:off x="2633400" y="4114800"/>
            <a:ext cx="19195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Emprunt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43"/>
          <p:cNvSpPr/>
          <p:nvPr/>
        </p:nvSpPr>
        <p:spPr>
          <a:xfrm>
            <a:off x="4763880" y="3767400"/>
            <a:ext cx="2010960" cy="1050840"/>
          </a:xfrm>
          <a:prstGeom prst="rect">
            <a:avLst/>
          </a:prstGeom>
          <a:solidFill>
            <a:srgbClr val="243d82"/>
          </a:solidFill>
          <a:ln w="0">
            <a:noFill/>
          </a:ln>
          <a:effectLst>
            <a:outerShdw algn="bl" blurRad="127080" dir="8100000" dist="25455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44"/>
          <p:cNvSpPr/>
          <p:nvPr/>
        </p:nvSpPr>
        <p:spPr>
          <a:xfrm>
            <a:off x="4763880" y="3767400"/>
            <a:ext cx="2010960" cy="291960"/>
          </a:xfrm>
          <a:prstGeom prst="rect">
            <a:avLst/>
          </a:prstGeom>
          <a:solidFill>
            <a:srgbClr val="6b21a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45"/>
          <p:cNvSpPr/>
          <p:nvPr/>
        </p:nvSpPr>
        <p:spPr>
          <a:xfrm>
            <a:off x="4809600" y="3785760"/>
            <a:ext cx="19195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RESERVATION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46"/>
          <p:cNvSpPr/>
          <p:nvPr/>
        </p:nvSpPr>
        <p:spPr>
          <a:xfrm>
            <a:off x="4809600" y="4114800"/>
            <a:ext cx="19195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FIFO Queue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47"/>
          <p:cNvSpPr/>
          <p:nvPr/>
        </p:nvSpPr>
        <p:spPr>
          <a:xfrm>
            <a:off x="411480" y="4709160"/>
            <a:ext cx="83203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11 entités JPA · Relations OneToMany, ManyToOne, ManyToMany via BookAuthor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Shape 0"/>
          <p:cNvSpPr/>
          <p:nvPr/>
        </p:nvSpPr>
        <p:spPr>
          <a:xfrm>
            <a:off x="0" y="0"/>
            <a:ext cx="163800" cy="5142960"/>
          </a:xfrm>
          <a:prstGeom prst="rect">
            <a:avLst/>
          </a:prstGeom>
          <a:solidFill>
            <a:srgbClr val="0f1e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"/>
          <p:cNvSpPr/>
          <p:nvPr/>
        </p:nvSpPr>
        <p:spPr>
          <a:xfrm>
            <a:off x="411480" y="255960"/>
            <a:ext cx="83203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0f1e4a"/>
                </a:solidFill>
                <a:effectLst/>
                <a:uFillTx/>
                <a:latin typeface="Calibri"/>
                <a:ea typeface="Calibri"/>
              </a:rPr>
              <a:t>Règles Métier Implémentées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2"/>
          <p:cNvSpPr/>
          <p:nvPr/>
        </p:nvSpPr>
        <p:spPr>
          <a:xfrm>
            <a:off x="411480" y="1005840"/>
            <a:ext cx="2742480" cy="1782360"/>
          </a:xfrm>
          <a:prstGeom prst="rect">
            <a:avLst/>
          </a:prstGeom>
          <a:solidFill>
            <a:srgbClr val="0f1e4a"/>
          </a:solidFill>
          <a:ln w="0">
            <a:noFill/>
          </a:ln>
          <a:effectLst>
            <a:outerShdw algn="bl" blurRad="15228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5" name="Image 0" descr="preencoded.png"/>
          <p:cNvPicPr/>
          <p:nvPr/>
        </p:nvPicPr>
        <p:blipFill>
          <a:blip r:embed="rId1"/>
          <a:stretch/>
        </p:blipFill>
        <p:spPr>
          <a:xfrm>
            <a:off x="576000" y="1143000"/>
            <a:ext cx="474840" cy="474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6" name="Text 3"/>
          <p:cNvSpPr/>
          <p:nvPr/>
        </p:nvSpPr>
        <p:spPr>
          <a:xfrm>
            <a:off x="548640" y="1691640"/>
            <a:ext cx="24681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Séparation Livre / Exemplaire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4"/>
          <p:cNvSpPr/>
          <p:nvPr/>
        </p:nvSpPr>
        <p:spPr>
          <a:xfrm>
            <a:off x="548640" y="2057400"/>
            <a:ext cx="246816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Catalogue d'œuvres (Book) séparé des objets physiques (BookItem) identifiés par code-barres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5"/>
          <p:cNvSpPr/>
          <p:nvPr/>
        </p:nvSpPr>
        <p:spPr>
          <a:xfrm>
            <a:off x="3310200" y="1005840"/>
            <a:ext cx="2742480" cy="1782360"/>
          </a:xfrm>
          <a:prstGeom prst="rect">
            <a:avLst/>
          </a:prstGeom>
          <a:solidFill>
            <a:srgbClr val="0891b2"/>
          </a:solidFill>
          <a:ln w="0">
            <a:noFill/>
          </a:ln>
          <a:effectLst>
            <a:outerShdw algn="bl" blurRad="15228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9" name="Image 1" descr="preencoded.png"/>
          <p:cNvPicPr/>
          <p:nvPr/>
        </p:nvPicPr>
        <p:blipFill>
          <a:blip r:embed="rId2"/>
          <a:stretch/>
        </p:blipFill>
        <p:spPr>
          <a:xfrm>
            <a:off x="3474720" y="1143000"/>
            <a:ext cx="474840" cy="474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0" name="Text 6"/>
          <p:cNvSpPr/>
          <p:nvPr/>
        </p:nvSpPr>
        <p:spPr>
          <a:xfrm>
            <a:off x="3447360" y="1691640"/>
            <a:ext cx="24681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Quota d'Emprunts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7"/>
          <p:cNvSpPr/>
          <p:nvPr/>
        </p:nvSpPr>
        <p:spPr>
          <a:xfrm>
            <a:off x="3447360" y="2057400"/>
            <a:ext cx="246816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Chaque type de membre (Étudiant, Enseignant, Externe) possède un maxBorrows vérifié avant tout emprunt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8"/>
          <p:cNvSpPr/>
          <p:nvPr/>
        </p:nvSpPr>
        <p:spPr>
          <a:xfrm>
            <a:off x="6208920" y="1005840"/>
            <a:ext cx="2742480" cy="1782360"/>
          </a:xfrm>
          <a:prstGeom prst="rect">
            <a:avLst/>
          </a:prstGeom>
          <a:solidFill>
            <a:srgbClr val="1a3166"/>
          </a:solidFill>
          <a:ln w="0">
            <a:noFill/>
          </a:ln>
          <a:effectLst>
            <a:outerShdw algn="bl" blurRad="15228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3" name="Image 2" descr="preencoded.png"/>
          <p:cNvPicPr/>
          <p:nvPr/>
        </p:nvPicPr>
        <p:blipFill>
          <a:blip r:embed="rId3"/>
          <a:stretch/>
        </p:blipFill>
        <p:spPr>
          <a:xfrm>
            <a:off x="6373440" y="1143000"/>
            <a:ext cx="474840" cy="474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4" name="Text 9"/>
          <p:cNvSpPr/>
          <p:nvPr/>
        </p:nvSpPr>
        <p:spPr>
          <a:xfrm>
            <a:off x="6346080" y="1691640"/>
            <a:ext cx="24681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Optimistic Locking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10"/>
          <p:cNvSpPr/>
          <p:nvPr/>
        </p:nvSpPr>
        <p:spPr>
          <a:xfrm>
            <a:off x="6346080" y="2057400"/>
            <a:ext cx="246816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@Version sur BookItem — empêche les modifications concurrentes sur un même exemplaire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11"/>
          <p:cNvSpPr/>
          <p:nvPr/>
        </p:nvSpPr>
        <p:spPr>
          <a:xfrm>
            <a:off x="411480" y="2926080"/>
            <a:ext cx="2742480" cy="1782360"/>
          </a:xfrm>
          <a:prstGeom prst="rect">
            <a:avLst/>
          </a:prstGeom>
          <a:solidFill>
            <a:srgbClr val="f0b429"/>
          </a:solidFill>
          <a:ln w="0">
            <a:noFill/>
          </a:ln>
          <a:effectLst>
            <a:outerShdw algn="bl" blurRad="15228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7" name="Image 3" descr="preencoded.png"/>
          <p:cNvPicPr/>
          <p:nvPr/>
        </p:nvPicPr>
        <p:blipFill>
          <a:blip r:embed="rId4"/>
          <a:stretch/>
        </p:blipFill>
        <p:spPr>
          <a:xfrm>
            <a:off x="576000" y="3063240"/>
            <a:ext cx="474840" cy="474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" name="Text 12"/>
          <p:cNvSpPr/>
          <p:nvPr/>
        </p:nvSpPr>
        <p:spPr>
          <a:xfrm>
            <a:off x="548640" y="3611880"/>
            <a:ext cx="24681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0f1e4a"/>
                </a:solidFill>
                <a:effectLst/>
                <a:uFillTx/>
                <a:latin typeface="Calibri"/>
                <a:ea typeface="Calibri"/>
              </a:rPr>
              <a:t>Renouvellement (max 3×)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13"/>
          <p:cNvSpPr/>
          <p:nvPr/>
        </p:nvSpPr>
        <p:spPr>
          <a:xfrm>
            <a:off x="548640" y="3977640"/>
            <a:ext cx="246816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3291a"/>
                </a:solidFill>
                <a:effectLst/>
                <a:uFillTx/>
                <a:latin typeface="Calibri"/>
                <a:ea typeface="Calibri"/>
              </a:rPr>
              <a:t>Un emprunt actif peut être renouvelé 3 fois maximum via le compteur renewalCount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14"/>
          <p:cNvSpPr/>
          <p:nvPr/>
        </p:nvSpPr>
        <p:spPr>
          <a:xfrm>
            <a:off x="3310200" y="2926080"/>
            <a:ext cx="2742480" cy="1782360"/>
          </a:xfrm>
          <a:prstGeom prst="rect">
            <a:avLst/>
          </a:prstGeom>
          <a:solidFill>
            <a:srgbClr val="6b21a8"/>
          </a:solidFill>
          <a:ln w="0">
            <a:noFill/>
          </a:ln>
          <a:effectLst>
            <a:outerShdw algn="bl" blurRad="15228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1" name="Image 4" descr="preencoded.png"/>
          <p:cNvPicPr/>
          <p:nvPr/>
        </p:nvPicPr>
        <p:blipFill>
          <a:blip r:embed="rId5"/>
          <a:stretch/>
        </p:blipFill>
        <p:spPr>
          <a:xfrm>
            <a:off x="3474720" y="3063240"/>
            <a:ext cx="474840" cy="474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2" name="Text 15"/>
          <p:cNvSpPr/>
          <p:nvPr/>
        </p:nvSpPr>
        <p:spPr>
          <a:xfrm>
            <a:off x="3447360" y="3611880"/>
            <a:ext cx="24681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File d'Attente FIFO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6"/>
          <p:cNvSpPr/>
          <p:nvPr/>
        </p:nvSpPr>
        <p:spPr>
          <a:xfrm>
            <a:off x="3447360" y="3977640"/>
            <a:ext cx="246816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Les réservations sont traitées dans l'ordre d'arrivée ; queuePosition calculée automatiquement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17"/>
          <p:cNvSpPr/>
          <p:nvPr/>
        </p:nvSpPr>
        <p:spPr>
          <a:xfrm>
            <a:off x="6208920" y="2926080"/>
            <a:ext cx="2742480" cy="1782360"/>
          </a:xfrm>
          <a:prstGeom prst="rect">
            <a:avLst/>
          </a:prstGeom>
          <a:solidFill>
            <a:srgbClr val="1a5c3e"/>
          </a:solidFill>
          <a:ln w="0">
            <a:noFill/>
          </a:ln>
          <a:effectLst>
            <a:outerShdw algn="bl" blurRad="15228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5" name="Image 5" descr="preencoded.png"/>
          <p:cNvPicPr/>
          <p:nvPr/>
        </p:nvPicPr>
        <p:blipFill>
          <a:blip r:embed="rId6"/>
          <a:stretch/>
        </p:blipFill>
        <p:spPr>
          <a:xfrm>
            <a:off x="6373440" y="3063240"/>
            <a:ext cx="474840" cy="474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6" name="Text 18"/>
          <p:cNvSpPr/>
          <p:nvPr/>
        </p:nvSpPr>
        <p:spPr>
          <a:xfrm>
            <a:off x="6346080" y="3611880"/>
            <a:ext cx="24681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Soft Delete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9"/>
          <p:cNvSpPr/>
          <p:nvPr/>
        </p:nvSpPr>
        <p:spPr>
          <a:xfrm>
            <a:off x="6346080" y="3977640"/>
            <a:ext cx="246816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Suppression logique (champ deleted) via @SQLRestriction — préserve l'historique complet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Shape 0"/>
          <p:cNvSpPr/>
          <p:nvPr/>
        </p:nvSpPr>
        <p:spPr>
          <a:xfrm>
            <a:off x="0" y="0"/>
            <a:ext cx="163800" cy="5142960"/>
          </a:xfrm>
          <a:prstGeom prst="rect">
            <a:avLst/>
          </a:prstGeom>
          <a:solidFill>
            <a:srgbClr val="f0b42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"/>
          <p:cNvSpPr/>
          <p:nvPr/>
        </p:nvSpPr>
        <p:spPr>
          <a:xfrm>
            <a:off x="411480" y="255960"/>
            <a:ext cx="82288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pc="201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03 · Architecture Technique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2"/>
          <p:cNvSpPr/>
          <p:nvPr/>
        </p:nvSpPr>
        <p:spPr>
          <a:xfrm>
            <a:off x="411480" y="5670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Stack Technologique &amp; Architecture en Couches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3"/>
          <p:cNvSpPr/>
          <p:nvPr/>
        </p:nvSpPr>
        <p:spPr>
          <a:xfrm>
            <a:off x="411480" y="1298520"/>
            <a:ext cx="4159800" cy="456480"/>
          </a:xfrm>
          <a:prstGeom prst="rect">
            <a:avLst/>
          </a:prstGeom>
          <a:solidFill>
            <a:srgbClr val="1a31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4"/>
          <p:cNvSpPr/>
          <p:nvPr/>
        </p:nvSpPr>
        <p:spPr>
          <a:xfrm>
            <a:off x="594360" y="1353240"/>
            <a:ext cx="19195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f0b429"/>
                </a:solidFill>
                <a:effectLst/>
                <a:uFillTx/>
                <a:latin typeface="Calibri"/>
                <a:ea typeface="Calibri"/>
              </a:rPr>
              <a:t>Java 21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5"/>
          <p:cNvSpPr/>
          <p:nvPr/>
        </p:nvSpPr>
        <p:spPr>
          <a:xfrm>
            <a:off x="2560320" y="1353240"/>
            <a:ext cx="18280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Langage principal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6"/>
          <p:cNvSpPr/>
          <p:nvPr/>
        </p:nvSpPr>
        <p:spPr>
          <a:xfrm>
            <a:off x="411480" y="1819800"/>
            <a:ext cx="4159800" cy="456480"/>
          </a:xfrm>
          <a:prstGeom prst="rect">
            <a:avLst/>
          </a:prstGeom>
          <a:solidFill>
            <a:srgbClr val="243d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7"/>
          <p:cNvSpPr/>
          <p:nvPr/>
        </p:nvSpPr>
        <p:spPr>
          <a:xfrm>
            <a:off x="594360" y="1874520"/>
            <a:ext cx="19195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f0b429"/>
                </a:solidFill>
                <a:effectLst/>
                <a:uFillTx/>
                <a:latin typeface="Calibri"/>
                <a:ea typeface="Calibri"/>
              </a:rPr>
              <a:t>Spring Boot 3.x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8"/>
          <p:cNvSpPr/>
          <p:nvPr/>
        </p:nvSpPr>
        <p:spPr>
          <a:xfrm>
            <a:off x="2560320" y="1874520"/>
            <a:ext cx="18280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Framework applicatif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9"/>
          <p:cNvSpPr/>
          <p:nvPr/>
        </p:nvSpPr>
        <p:spPr>
          <a:xfrm>
            <a:off x="411480" y="2340720"/>
            <a:ext cx="4159800" cy="456480"/>
          </a:xfrm>
          <a:prstGeom prst="rect">
            <a:avLst/>
          </a:prstGeom>
          <a:solidFill>
            <a:srgbClr val="1a31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10"/>
          <p:cNvSpPr/>
          <p:nvPr/>
        </p:nvSpPr>
        <p:spPr>
          <a:xfrm>
            <a:off x="594360" y="2395800"/>
            <a:ext cx="19195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f0b429"/>
                </a:solidFill>
                <a:effectLst/>
                <a:uFillTx/>
                <a:latin typeface="Calibri"/>
                <a:ea typeface="Calibri"/>
              </a:rPr>
              <a:t>Spring Data JPA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11"/>
          <p:cNvSpPr/>
          <p:nvPr/>
        </p:nvSpPr>
        <p:spPr>
          <a:xfrm>
            <a:off x="2560320" y="2395800"/>
            <a:ext cx="18280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ORM &amp; accès données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12"/>
          <p:cNvSpPr/>
          <p:nvPr/>
        </p:nvSpPr>
        <p:spPr>
          <a:xfrm>
            <a:off x="411480" y="2862000"/>
            <a:ext cx="4159800" cy="456480"/>
          </a:xfrm>
          <a:prstGeom prst="rect">
            <a:avLst/>
          </a:prstGeom>
          <a:solidFill>
            <a:srgbClr val="243d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13"/>
          <p:cNvSpPr/>
          <p:nvPr/>
        </p:nvSpPr>
        <p:spPr>
          <a:xfrm>
            <a:off x="594360" y="2917080"/>
            <a:ext cx="19195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f0b429"/>
                </a:solidFill>
                <a:effectLst/>
                <a:uFillTx/>
                <a:latin typeface="Calibri"/>
                <a:ea typeface="Calibri"/>
              </a:rPr>
              <a:t>Spring Security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14"/>
          <p:cNvSpPr/>
          <p:nvPr/>
        </p:nvSpPr>
        <p:spPr>
          <a:xfrm>
            <a:off x="2560320" y="2917080"/>
            <a:ext cx="18280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Sécurisation de l'API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15"/>
          <p:cNvSpPr/>
          <p:nvPr/>
        </p:nvSpPr>
        <p:spPr>
          <a:xfrm>
            <a:off x="411480" y="3383280"/>
            <a:ext cx="4159800" cy="456480"/>
          </a:xfrm>
          <a:prstGeom prst="rect">
            <a:avLst/>
          </a:prstGeom>
          <a:solidFill>
            <a:srgbClr val="1a31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16"/>
          <p:cNvSpPr/>
          <p:nvPr/>
        </p:nvSpPr>
        <p:spPr>
          <a:xfrm>
            <a:off x="594360" y="3438000"/>
            <a:ext cx="19195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f0b429"/>
                </a:solidFill>
                <a:effectLst/>
                <a:uFillTx/>
                <a:latin typeface="Calibri"/>
                <a:ea typeface="Calibri"/>
              </a:rPr>
              <a:t>Hibernate 6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17"/>
          <p:cNvSpPr/>
          <p:nvPr/>
        </p:nvSpPr>
        <p:spPr>
          <a:xfrm>
            <a:off x="2560320" y="3438000"/>
            <a:ext cx="18280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Implémentation JPA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18"/>
          <p:cNvSpPr/>
          <p:nvPr/>
        </p:nvSpPr>
        <p:spPr>
          <a:xfrm>
            <a:off x="411480" y="3904560"/>
            <a:ext cx="4159800" cy="456480"/>
          </a:xfrm>
          <a:prstGeom prst="rect">
            <a:avLst/>
          </a:prstGeom>
          <a:solidFill>
            <a:srgbClr val="243d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19"/>
          <p:cNvSpPr/>
          <p:nvPr/>
        </p:nvSpPr>
        <p:spPr>
          <a:xfrm>
            <a:off x="594360" y="3959280"/>
            <a:ext cx="19195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f0b429"/>
                </a:solidFill>
                <a:effectLst/>
                <a:uFillTx/>
                <a:latin typeface="Calibri"/>
                <a:ea typeface="Calibri"/>
              </a:rPr>
              <a:t>MySQL 8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20"/>
          <p:cNvSpPr/>
          <p:nvPr/>
        </p:nvSpPr>
        <p:spPr>
          <a:xfrm>
            <a:off x="2560320" y="3959280"/>
            <a:ext cx="18280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Base de données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Shape 21"/>
          <p:cNvSpPr/>
          <p:nvPr/>
        </p:nvSpPr>
        <p:spPr>
          <a:xfrm>
            <a:off x="411480" y="4425840"/>
            <a:ext cx="4159800" cy="456480"/>
          </a:xfrm>
          <a:prstGeom prst="rect">
            <a:avLst/>
          </a:prstGeom>
          <a:solidFill>
            <a:srgbClr val="1a31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22"/>
          <p:cNvSpPr/>
          <p:nvPr/>
        </p:nvSpPr>
        <p:spPr>
          <a:xfrm>
            <a:off x="594360" y="4480560"/>
            <a:ext cx="19195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f0b429"/>
                </a:solidFill>
                <a:effectLst/>
                <a:uFillTx/>
                <a:latin typeface="Calibri"/>
                <a:ea typeface="Calibri"/>
              </a:rPr>
              <a:t>Maven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23"/>
          <p:cNvSpPr/>
          <p:nvPr/>
        </p:nvSpPr>
        <p:spPr>
          <a:xfrm>
            <a:off x="2560320" y="4480560"/>
            <a:ext cx="18280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Build &amp; dépendances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24"/>
          <p:cNvSpPr/>
          <p:nvPr/>
        </p:nvSpPr>
        <p:spPr>
          <a:xfrm>
            <a:off x="4846320" y="1298520"/>
            <a:ext cx="3931200" cy="593640"/>
          </a:xfrm>
          <a:prstGeom prst="rect">
            <a:avLst/>
          </a:prstGeom>
          <a:solidFill>
            <a:srgbClr val="0891b2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3" name="Image 0" descr="preencoded.png"/>
          <p:cNvPicPr/>
          <p:nvPr/>
        </p:nvPicPr>
        <p:blipFill>
          <a:blip r:embed="rId1"/>
          <a:stretch/>
        </p:blipFill>
        <p:spPr>
          <a:xfrm>
            <a:off x="4983480" y="1389960"/>
            <a:ext cx="38340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4" name="Text 25"/>
          <p:cNvSpPr/>
          <p:nvPr/>
        </p:nvSpPr>
        <p:spPr>
          <a:xfrm>
            <a:off x="5486400" y="1389960"/>
            <a:ext cx="31539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Controllers (REST API)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26"/>
          <p:cNvSpPr/>
          <p:nvPr/>
        </p:nvSpPr>
        <p:spPr>
          <a:xfrm>
            <a:off x="6583680" y="1892880"/>
            <a:ext cx="45648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27"/>
          <p:cNvSpPr/>
          <p:nvPr/>
        </p:nvSpPr>
        <p:spPr>
          <a:xfrm>
            <a:off x="4846320" y="2002680"/>
            <a:ext cx="3931200" cy="593640"/>
          </a:xfrm>
          <a:prstGeom prst="rect">
            <a:avLst/>
          </a:prstGeom>
          <a:solidFill>
            <a:srgbClr val="1a3166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7" name="Image 1" descr="preencoded.png"/>
          <p:cNvPicPr/>
          <p:nvPr/>
        </p:nvPicPr>
        <p:blipFill>
          <a:blip r:embed="rId2"/>
          <a:stretch/>
        </p:blipFill>
        <p:spPr>
          <a:xfrm>
            <a:off x="4983480" y="2094120"/>
            <a:ext cx="38340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8" name="Text 28"/>
          <p:cNvSpPr/>
          <p:nvPr/>
        </p:nvSpPr>
        <p:spPr>
          <a:xfrm>
            <a:off x="5486400" y="2094120"/>
            <a:ext cx="31539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Services (Règles Métier)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29"/>
          <p:cNvSpPr/>
          <p:nvPr/>
        </p:nvSpPr>
        <p:spPr>
          <a:xfrm>
            <a:off x="6583680" y="2597040"/>
            <a:ext cx="45648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30"/>
          <p:cNvSpPr/>
          <p:nvPr/>
        </p:nvSpPr>
        <p:spPr>
          <a:xfrm>
            <a:off x="4846320" y="2706480"/>
            <a:ext cx="3931200" cy="593640"/>
          </a:xfrm>
          <a:prstGeom prst="rect">
            <a:avLst/>
          </a:prstGeom>
          <a:solidFill>
            <a:srgbClr val="2d5016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1" name="Image 2" descr="preencoded.png"/>
          <p:cNvPicPr/>
          <p:nvPr/>
        </p:nvPicPr>
        <p:blipFill>
          <a:blip r:embed="rId3"/>
          <a:stretch/>
        </p:blipFill>
        <p:spPr>
          <a:xfrm>
            <a:off x="4983480" y="2797920"/>
            <a:ext cx="38340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2" name="Text 31"/>
          <p:cNvSpPr/>
          <p:nvPr/>
        </p:nvSpPr>
        <p:spPr>
          <a:xfrm>
            <a:off x="5486400" y="2797920"/>
            <a:ext cx="31539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Repositories (Spring Data JPA)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32"/>
          <p:cNvSpPr/>
          <p:nvPr/>
        </p:nvSpPr>
        <p:spPr>
          <a:xfrm>
            <a:off x="6583680" y="3300840"/>
            <a:ext cx="45648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33"/>
          <p:cNvSpPr/>
          <p:nvPr/>
        </p:nvSpPr>
        <p:spPr>
          <a:xfrm>
            <a:off x="4846320" y="3410640"/>
            <a:ext cx="3931200" cy="593640"/>
          </a:xfrm>
          <a:prstGeom prst="rect">
            <a:avLst/>
          </a:prstGeom>
          <a:solidFill>
            <a:srgbClr val="6b21a8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5" name="Image 3" descr="preencoded.png"/>
          <p:cNvPicPr/>
          <p:nvPr/>
        </p:nvPicPr>
        <p:blipFill>
          <a:blip r:embed="rId4"/>
          <a:stretch/>
        </p:blipFill>
        <p:spPr>
          <a:xfrm>
            <a:off x="4983480" y="3502080"/>
            <a:ext cx="38340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6" name="Text 34"/>
          <p:cNvSpPr/>
          <p:nvPr/>
        </p:nvSpPr>
        <p:spPr>
          <a:xfrm>
            <a:off x="5486400" y="3502080"/>
            <a:ext cx="31539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Entities (JPA + Hibernate)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35"/>
          <p:cNvSpPr/>
          <p:nvPr/>
        </p:nvSpPr>
        <p:spPr>
          <a:xfrm>
            <a:off x="6583680" y="4005000"/>
            <a:ext cx="45648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36"/>
          <p:cNvSpPr/>
          <p:nvPr/>
        </p:nvSpPr>
        <p:spPr>
          <a:xfrm>
            <a:off x="4846320" y="4114800"/>
            <a:ext cx="3931200" cy="593640"/>
          </a:xfrm>
          <a:prstGeom prst="rect">
            <a:avLst/>
          </a:prstGeom>
          <a:solidFill>
            <a:srgbClr val="0f1e4a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9" name="Image 4" descr="preencoded.png"/>
          <p:cNvPicPr/>
          <p:nvPr/>
        </p:nvPicPr>
        <p:blipFill>
          <a:blip r:embed="rId5"/>
          <a:stretch/>
        </p:blipFill>
        <p:spPr>
          <a:xfrm>
            <a:off x="4983480" y="4206240"/>
            <a:ext cx="38340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0" name="Text 37"/>
          <p:cNvSpPr/>
          <p:nvPr/>
        </p:nvSpPr>
        <p:spPr>
          <a:xfrm>
            <a:off x="5486400" y="4206240"/>
            <a:ext cx="31539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DTOs / Security / Exceptions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Shape 0"/>
          <p:cNvSpPr/>
          <p:nvPr/>
        </p:nvSpPr>
        <p:spPr>
          <a:xfrm>
            <a:off x="0" y="0"/>
            <a:ext cx="163800" cy="5142960"/>
          </a:xfrm>
          <a:prstGeom prst="rect">
            <a:avLst/>
          </a:prstGeom>
          <a:solidFill>
            <a:srgbClr val="0f1e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1"/>
          <p:cNvSpPr/>
          <p:nvPr/>
        </p:nvSpPr>
        <p:spPr>
          <a:xfrm>
            <a:off x="411480" y="255960"/>
            <a:ext cx="83203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pc="201" strike="noStrike">
                <a:solidFill>
                  <a:srgbClr val="1a3166"/>
                </a:solidFill>
                <a:effectLst/>
                <a:uFillTx/>
                <a:latin typeface="Calibri"/>
                <a:ea typeface="Calibri"/>
              </a:rPr>
              <a:t>04 · Implémentation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2"/>
          <p:cNvSpPr/>
          <p:nvPr/>
        </p:nvSpPr>
        <p:spPr>
          <a:xfrm>
            <a:off x="411480" y="567000"/>
            <a:ext cx="83203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f1e4a"/>
                </a:solidFill>
                <a:effectLst/>
                <a:uFillTx/>
                <a:latin typeface="Calibri"/>
                <a:ea typeface="Calibri"/>
              </a:rPr>
              <a:t>Flux d'Emprunt — Séquence &amp; Logique Métier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3"/>
          <p:cNvSpPr/>
          <p:nvPr/>
        </p:nvSpPr>
        <p:spPr>
          <a:xfrm>
            <a:off x="411480" y="1234440"/>
            <a:ext cx="1919520" cy="438120"/>
          </a:xfrm>
          <a:prstGeom prst="rect">
            <a:avLst/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4"/>
          <p:cNvSpPr/>
          <p:nvPr/>
        </p:nvSpPr>
        <p:spPr>
          <a:xfrm>
            <a:off x="411480" y="1234440"/>
            <a:ext cx="191952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Client HTTP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5"/>
          <p:cNvSpPr/>
          <p:nvPr/>
        </p:nvSpPr>
        <p:spPr>
          <a:xfrm>
            <a:off x="1371600" y="1673280"/>
            <a:ext cx="360" cy="3108960"/>
          </a:xfrm>
          <a:prstGeom prst="line">
            <a:avLst/>
          </a:prstGeom>
          <a:ln w="12700">
            <a:solidFill>
              <a:srgbClr val="e2e8f0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Shape 6"/>
          <p:cNvSpPr/>
          <p:nvPr/>
        </p:nvSpPr>
        <p:spPr>
          <a:xfrm>
            <a:off x="2560320" y="1234440"/>
            <a:ext cx="1919520" cy="438120"/>
          </a:xfrm>
          <a:prstGeom prst="rect">
            <a:avLst/>
          </a:prstGeom>
          <a:solidFill>
            <a:srgbClr val="0f1e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7"/>
          <p:cNvSpPr/>
          <p:nvPr/>
        </p:nvSpPr>
        <p:spPr>
          <a:xfrm>
            <a:off x="2560320" y="1234440"/>
            <a:ext cx="191952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Controller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8"/>
          <p:cNvSpPr/>
          <p:nvPr/>
        </p:nvSpPr>
        <p:spPr>
          <a:xfrm>
            <a:off x="3520440" y="1673280"/>
            <a:ext cx="360" cy="3108960"/>
          </a:xfrm>
          <a:prstGeom prst="line">
            <a:avLst/>
          </a:prstGeom>
          <a:ln w="12700">
            <a:solidFill>
              <a:srgbClr val="e2e8f0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9"/>
          <p:cNvSpPr/>
          <p:nvPr/>
        </p:nvSpPr>
        <p:spPr>
          <a:xfrm>
            <a:off x="4709160" y="1234440"/>
            <a:ext cx="1919520" cy="438120"/>
          </a:xfrm>
          <a:prstGeom prst="rect">
            <a:avLst/>
          </a:prstGeom>
          <a:solidFill>
            <a:srgbClr val="1a31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10"/>
          <p:cNvSpPr/>
          <p:nvPr/>
        </p:nvSpPr>
        <p:spPr>
          <a:xfrm>
            <a:off x="4709160" y="1234440"/>
            <a:ext cx="191952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Service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11"/>
          <p:cNvSpPr/>
          <p:nvPr/>
        </p:nvSpPr>
        <p:spPr>
          <a:xfrm>
            <a:off x="5669280" y="1673280"/>
            <a:ext cx="360" cy="3108960"/>
          </a:xfrm>
          <a:prstGeom prst="line">
            <a:avLst/>
          </a:prstGeom>
          <a:ln w="12700">
            <a:solidFill>
              <a:srgbClr val="e2e8f0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12"/>
          <p:cNvSpPr/>
          <p:nvPr/>
        </p:nvSpPr>
        <p:spPr>
          <a:xfrm>
            <a:off x="6858000" y="1234440"/>
            <a:ext cx="1919520" cy="438120"/>
          </a:xfrm>
          <a:prstGeom prst="rect">
            <a:avLst/>
          </a:prstGeom>
          <a:solidFill>
            <a:srgbClr val="1a5c3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13"/>
          <p:cNvSpPr/>
          <p:nvPr/>
        </p:nvSpPr>
        <p:spPr>
          <a:xfrm>
            <a:off x="6858000" y="1234440"/>
            <a:ext cx="191952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Repositories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Shape 14"/>
          <p:cNvSpPr/>
          <p:nvPr/>
        </p:nvSpPr>
        <p:spPr>
          <a:xfrm>
            <a:off x="7818120" y="1673280"/>
            <a:ext cx="360" cy="3108960"/>
          </a:xfrm>
          <a:prstGeom prst="line">
            <a:avLst/>
          </a:prstGeom>
          <a:ln w="12700">
            <a:solidFill>
              <a:srgbClr val="e2e8f0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15"/>
          <p:cNvSpPr/>
          <p:nvPr/>
        </p:nvSpPr>
        <p:spPr>
          <a:xfrm>
            <a:off x="1398960" y="1874520"/>
            <a:ext cx="2103120" cy="360"/>
          </a:xfrm>
          <a:prstGeom prst="line">
            <a:avLst/>
          </a:prstGeom>
          <a:ln w="19050">
            <a:solidFill>
              <a:srgbClr val="0f1e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16"/>
          <p:cNvSpPr/>
          <p:nvPr/>
        </p:nvSpPr>
        <p:spPr>
          <a:xfrm>
            <a:off x="3337560" y="1801440"/>
            <a:ext cx="1821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0f1e4a"/>
                </a:solidFill>
                <a:effectLst/>
                <a:uFillTx/>
                <a:latin typeface="Calibri"/>
                <a:ea typeface="Calibri"/>
              </a:rPr>
              <a:t>▶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17"/>
          <p:cNvSpPr/>
          <p:nvPr/>
        </p:nvSpPr>
        <p:spPr>
          <a:xfrm>
            <a:off x="1398960" y="1645920"/>
            <a:ext cx="21024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5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POST /borrows/checkout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18"/>
          <p:cNvSpPr/>
          <p:nvPr/>
        </p:nvSpPr>
        <p:spPr>
          <a:xfrm>
            <a:off x="3547800" y="2240280"/>
            <a:ext cx="2103120" cy="360"/>
          </a:xfrm>
          <a:prstGeom prst="line">
            <a:avLst/>
          </a:prstGeom>
          <a:ln w="19050">
            <a:solidFill>
              <a:srgbClr val="0f1e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19"/>
          <p:cNvSpPr/>
          <p:nvPr/>
        </p:nvSpPr>
        <p:spPr>
          <a:xfrm>
            <a:off x="5486400" y="2167200"/>
            <a:ext cx="1821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0f1e4a"/>
                </a:solidFill>
                <a:effectLst/>
                <a:uFillTx/>
                <a:latin typeface="Calibri"/>
                <a:ea typeface="Calibri"/>
              </a:rPr>
              <a:t>▶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20"/>
          <p:cNvSpPr/>
          <p:nvPr/>
        </p:nvSpPr>
        <p:spPr>
          <a:xfrm>
            <a:off x="3547800" y="2011680"/>
            <a:ext cx="21024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5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borrowBook(memberId, barcode)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21"/>
          <p:cNvSpPr/>
          <p:nvPr/>
        </p:nvSpPr>
        <p:spPr>
          <a:xfrm>
            <a:off x="5696640" y="2606040"/>
            <a:ext cx="2103120" cy="360"/>
          </a:xfrm>
          <a:prstGeom prst="line">
            <a:avLst/>
          </a:prstGeom>
          <a:ln w="19050">
            <a:solidFill>
              <a:srgbClr val="0f1e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22"/>
          <p:cNvSpPr/>
          <p:nvPr/>
        </p:nvSpPr>
        <p:spPr>
          <a:xfrm>
            <a:off x="7635240" y="2532960"/>
            <a:ext cx="1821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0f1e4a"/>
                </a:solidFill>
                <a:effectLst/>
                <a:uFillTx/>
                <a:latin typeface="Calibri"/>
                <a:ea typeface="Calibri"/>
              </a:rPr>
              <a:t>▶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23"/>
          <p:cNvSpPr/>
          <p:nvPr/>
        </p:nvSpPr>
        <p:spPr>
          <a:xfrm>
            <a:off x="5696640" y="2377440"/>
            <a:ext cx="21024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5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findById(memberId) → Member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24"/>
          <p:cNvSpPr/>
          <p:nvPr/>
        </p:nvSpPr>
        <p:spPr>
          <a:xfrm>
            <a:off x="5696640" y="2971800"/>
            <a:ext cx="2103120" cy="360"/>
          </a:xfrm>
          <a:prstGeom prst="line">
            <a:avLst/>
          </a:prstGeom>
          <a:ln w="19050">
            <a:solidFill>
              <a:srgbClr val="0f1e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25"/>
          <p:cNvSpPr/>
          <p:nvPr/>
        </p:nvSpPr>
        <p:spPr>
          <a:xfrm>
            <a:off x="7635240" y="2898720"/>
            <a:ext cx="1821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0f1e4a"/>
                </a:solidFill>
                <a:effectLst/>
                <a:uFillTx/>
                <a:latin typeface="Calibri"/>
                <a:ea typeface="Calibri"/>
              </a:rPr>
              <a:t>▶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26"/>
          <p:cNvSpPr/>
          <p:nvPr/>
        </p:nvSpPr>
        <p:spPr>
          <a:xfrm>
            <a:off x="5696640" y="2743200"/>
            <a:ext cx="21024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5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findByBarcode() → BookItem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27"/>
          <p:cNvSpPr/>
          <p:nvPr/>
        </p:nvSpPr>
        <p:spPr>
          <a:xfrm>
            <a:off x="5696640" y="3337560"/>
            <a:ext cx="2103120" cy="360"/>
          </a:xfrm>
          <a:prstGeom prst="line">
            <a:avLst/>
          </a:prstGeom>
          <a:ln w="19050">
            <a:solidFill>
              <a:srgbClr val="0f1e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28"/>
          <p:cNvSpPr/>
          <p:nvPr/>
        </p:nvSpPr>
        <p:spPr>
          <a:xfrm>
            <a:off x="7635240" y="3264480"/>
            <a:ext cx="1821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0f1e4a"/>
                </a:solidFill>
                <a:effectLst/>
                <a:uFillTx/>
                <a:latin typeface="Calibri"/>
                <a:ea typeface="Calibri"/>
              </a:rPr>
              <a:t>▶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29"/>
          <p:cNvSpPr/>
          <p:nvPr/>
        </p:nvSpPr>
        <p:spPr>
          <a:xfrm>
            <a:off x="5696640" y="3119040"/>
            <a:ext cx="21024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5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countByMemberAndStatus() → check quota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30"/>
          <p:cNvSpPr/>
          <p:nvPr/>
        </p:nvSpPr>
        <p:spPr>
          <a:xfrm>
            <a:off x="5696640" y="3703320"/>
            <a:ext cx="2103120" cy="360"/>
          </a:xfrm>
          <a:prstGeom prst="line">
            <a:avLst/>
          </a:prstGeom>
          <a:ln w="19050">
            <a:solidFill>
              <a:srgbClr val="0f1e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31"/>
          <p:cNvSpPr/>
          <p:nvPr/>
        </p:nvSpPr>
        <p:spPr>
          <a:xfrm>
            <a:off x="7635240" y="3630240"/>
            <a:ext cx="1821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0f1e4a"/>
                </a:solidFill>
                <a:effectLst/>
                <a:uFillTx/>
                <a:latin typeface="Calibri"/>
                <a:ea typeface="Calibri"/>
              </a:rPr>
              <a:t>▶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32"/>
          <p:cNvSpPr/>
          <p:nvPr/>
        </p:nvSpPr>
        <p:spPr>
          <a:xfrm>
            <a:off x="5696640" y="3474720"/>
            <a:ext cx="21024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5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save(BORROWED) + save(Borrow)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Shape 33"/>
          <p:cNvSpPr/>
          <p:nvPr/>
        </p:nvSpPr>
        <p:spPr>
          <a:xfrm>
            <a:off x="1398960" y="4160520"/>
            <a:ext cx="2103120" cy="360"/>
          </a:xfrm>
          <a:prstGeom prst="line">
            <a:avLst/>
          </a:prstGeom>
          <a:ln w="19050">
            <a:solidFill>
              <a:srgbClr val="0891b2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34"/>
          <p:cNvSpPr/>
          <p:nvPr/>
        </p:nvSpPr>
        <p:spPr>
          <a:xfrm>
            <a:off x="1389960" y="4087440"/>
            <a:ext cx="1821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0891b2"/>
                </a:solidFill>
                <a:effectLst/>
                <a:uFillTx/>
                <a:latin typeface="Calibri"/>
                <a:ea typeface="Calibri"/>
              </a:rPr>
              <a:t>▶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35"/>
          <p:cNvSpPr/>
          <p:nvPr/>
        </p:nvSpPr>
        <p:spPr>
          <a:xfrm>
            <a:off x="1398960" y="3931920"/>
            <a:ext cx="21024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5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201 Created — BorrowDTO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Shape 36"/>
          <p:cNvSpPr/>
          <p:nvPr/>
        </p:nvSpPr>
        <p:spPr>
          <a:xfrm>
            <a:off x="3657600" y="3498480"/>
            <a:ext cx="1828080" cy="1645200"/>
          </a:xfrm>
          <a:prstGeom prst="rect">
            <a:avLst/>
          </a:prstGeom>
          <a:solidFill>
            <a:srgbClr val="0f1e4a"/>
          </a:solidFill>
          <a:ln w="0">
            <a:noFill/>
          </a:ln>
          <a:effectLst>
            <a:outerShdw algn="bl" blurRad="127080" dir="8100000" dist="25455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37"/>
          <p:cNvSpPr/>
          <p:nvPr/>
        </p:nvSpPr>
        <p:spPr>
          <a:xfrm>
            <a:off x="3658320" y="3566880"/>
            <a:ext cx="18280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f0b429"/>
                </a:solidFill>
                <a:effectLst/>
                <a:uFillTx/>
                <a:latin typeface="Calibri"/>
                <a:ea typeface="Calibri"/>
              </a:rPr>
              <a:t>Validations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38"/>
          <p:cNvSpPr/>
          <p:nvPr/>
        </p:nvSpPr>
        <p:spPr>
          <a:xfrm>
            <a:off x="3886200" y="3886200"/>
            <a:ext cx="155376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✓ BookItem AVAILABLE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✓ Quota non dépassé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✓ renewalCount ≤ 3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Shape 0"/>
          <p:cNvSpPr/>
          <p:nvPr/>
        </p:nvSpPr>
        <p:spPr>
          <a:xfrm>
            <a:off x="0" y="0"/>
            <a:ext cx="163800" cy="5142960"/>
          </a:xfrm>
          <a:prstGeom prst="rect">
            <a:avLst/>
          </a:prstGeom>
          <a:solidFill>
            <a:srgbClr val="f0b42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1"/>
          <p:cNvSpPr/>
          <p:nvPr/>
        </p:nvSpPr>
        <p:spPr>
          <a:xfrm>
            <a:off x="411480" y="25596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Réservation &amp; File d'Attente FIFO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2"/>
          <p:cNvSpPr/>
          <p:nvPr/>
        </p:nvSpPr>
        <p:spPr>
          <a:xfrm>
            <a:off x="411480" y="960120"/>
            <a:ext cx="50284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0b429"/>
                </a:solidFill>
                <a:effectLst/>
                <a:uFillTx/>
                <a:latin typeface="Calibri"/>
                <a:ea typeface="Calibri"/>
              </a:rPr>
              <a:t>File d'Attente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Shape 3"/>
          <p:cNvSpPr/>
          <p:nvPr/>
        </p:nvSpPr>
        <p:spPr>
          <a:xfrm>
            <a:off x="411480" y="1417320"/>
            <a:ext cx="4662720" cy="803880"/>
          </a:xfrm>
          <a:prstGeom prst="rect">
            <a:avLst/>
          </a:prstGeom>
          <a:solidFill>
            <a:srgbClr val="1a31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4"/>
          <p:cNvSpPr/>
          <p:nvPr/>
        </p:nvSpPr>
        <p:spPr>
          <a:xfrm>
            <a:off x="411480" y="1417320"/>
            <a:ext cx="867960" cy="803880"/>
          </a:xfrm>
          <a:prstGeom prst="rect">
            <a:avLst/>
          </a:prstGeom>
          <a:solidFill>
            <a:srgbClr val="f0b42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5"/>
          <p:cNvSpPr/>
          <p:nvPr/>
        </p:nvSpPr>
        <p:spPr>
          <a:xfrm>
            <a:off x="411480" y="1417320"/>
            <a:ext cx="867960" cy="80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0f1e4a"/>
                </a:solidFill>
                <a:effectLst/>
                <a:uFillTx/>
                <a:latin typeface="Calibri"/>
                <a:ea typeface="Calibri"/>
              </a:rPr>
              <a:t>#1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6"/>
          <p:cNvSpPr/>
          <p:nvPr/>
        </p:nvSpPr>
        <p:spPr>
          <a:xfrm>
            <a:off x="1417320" y="1508760"/>
            <a:ext cx="22852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Membre A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7"/>
          <p:cNvSpPr/>
          <p:nvPr/>
        </p:nvSpPr>
        <p:spPr>
          <a:xfrm>
            <a:off x="1417320" y="1874520"/>
            <a:ext cx="1005120" cy="246240"/>
          </a:xfrm>
          <a:prstGeom prst="roundRect">
            <a:avLst>
              <a:gd name="adj" fmla="val 22222"/>
            </a:avLst>
          </a:prstGeom>
          <a:solidFill>
            <a:srgbClr val="1a5c3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8"/>
          <p:cNvSpPr/>
          <p:nvPr/>
        </p:nvSpPr>
        <p:spPr>
          <a:xfrm>
            <a:off x="1417320" y="1874520"/>
            <a:ext cx="100512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PENDING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Shape 9"/>
          <p:cNvSpPr/>
          <p:nvPr/>
        </p:nvSpPr>
        <p:spPr>
          <a:xfrm>
            <a:off x="411480" y="2404800"/>
            <a:ext cx="4662720" cy="803880"/>
          </a:xfrm>
          <a:prstGeom prst="rect">
            <a:avLst/>
          </a:prstGeom>
          <a:solidFill>
            <a:srgbClr val="1a31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10"/>
          <p:cNvSpPr/>
          <p:nvPr/>
        </p:nvSpPr>
        <p:spPr>
          <a:xfrm>
            <a:off x="411480" y="2404800"/>
            <a:ext cx="867960" cy="803880"/>
          </a:xfrm>
          <a:prstGeom prst="rect">
            <a:avLst/>
          </a:prstGeom>
          <a:solidFill>
            <a:srgbClr val="f0b42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11"/>
          <p:cNvSpPr/>
          <p:nvPr/>
        </p:nvSpPr>
        <p:spPr>
          <a:xfrm>
            <a:off x="411480" y="2404800"/>
            <a:ext cx="867960" cy="80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0f1e4a"/>
                </a:solidFill>
                <a:effectLst/>
                <a:uFillTx/>
                <a:latin typeface="Calibri"/>
                <a:ea typeface="Calibri"/>
              </a:rPr>
              <a:t>#2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12"/>
          <p:cNvSpPr/>
          <p:nvPr/>
        </p:nvSpPr>
        <p:spPr>
          <a:xfrm>
            <a:off x="1417320" y="2496240"/>
            <a:ext cx="22852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Membre B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Shape 13"/>
          <p:cNvSpPr/>
          <p:nvPr/>
        </p:nvSpPr>
        <p:spPr>
          <a:xfrm>
            <a:off x="1417320" y="2862000"/>
            <a:ext cx="1005120" cy="246240"/>
          </a:xfrm>
          <a:prstGeom prst="roundRect">
            <a:avLst>
              <a:gd name="adj" fmla="val 22222"/>
            </a:avLst>
          </a:prstGeom>
          <a:solidFill>
            <a:srgbClr val="1a5c3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14"/>
          <p:cNvSpPr/>
          <p:nvPr/>
        </p:nvSpPr>
        <p:spPr>
          <a:xfrm>
            <a:off x="1417320" y="2862000"/>
            <a:ext cx="100512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PENDING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15"/>
          <p:cNvSpPr/>
          <p:nvPr/>
        </p:nvSpPr>
        <p:spPr>
          <a:xfrm>
            <a:off x="411480" y="3392280"/>
            <a:ext cx="4662720" cy="803880"/>
          </a:xfrm>
          <a:prstGeom prst="rect">
            <a:avLst/>
          </a:prstGeom>
          <a:solidFill>
            <a:srgbClr val="1a31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Shape 16"/>
          <p:cNvSpPr/>
          <p:nvPr/>
        </p:nvSpPr>
        <p:spPr>
          <a:xfrm>
            <a:off x="411480" y="3392280"/>
            <a:ext cx="867960" cy="803880"/>
          </a:xfrm>
          <a:prstGeom prst="rect">
            <a:avLst/>
          </a:prstGeom>
          <a:solidFill>
            <a:srgbClr val="f0b42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17"/>
          <p:cNvSpPr/>
          <p:nvPr/>
        </p:nvSpPr>
        <p:spPr>
          <a:xfrm>
            <a:off x="411480" y="3392280"/>
            <a:ext cx="867960" cy="80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0f1e4a"/>
                </a:solidFill>
                <a:effectLst/>
                <a:uFillTx/>
                <a:latin typeface="Calibri"/>
                <a:ea typeface="Calibri"/>
              </a:rPr>
              <a:t>#3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18"/>
          <p:cNvSpPr/>
          <p:nvPr/>
        </p:nvSpPr>
        <p:spPr>
          <a:xfrm>
            <a:off x="1417320" y="3483720"/>
            <a:ext cx="22852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Membre C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19"/>
          <p:cNvSpPr/>
          <p:nvPr/>
        </p:nvSpPr>
        <p:spPr>
          <a:xfrm>
            <a:off x="1417320" y="3849480"/>
            <a:ext cx="1005120" cy="246240"/>
          </a:xfrm>
          <a:prstGeom prst="roundRect">
            <a:avLst>
              <a:gd name="adj" fmla="val 22222"/>
            </a:avLst>
          </a:prstGeom>
          <a:solidFill>
            <a:srgbClr val="1a5c3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20"/>
          <p:cNvSpPr/>
          <p:nvPr/>
        </p:nvSpPr>
        <p:spPr>
          <a:xfrm>
            <a:off x="1417320" y="3849480"/>
            <a:ext cx="100512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PENDING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21"/>
          <p:cNvSpPr/>
          <p:nvPr/>
        </p:nvSpPr>
        <p:spPr>
          <a:xfrm>
            <a:off x="411480" y="4407480"/>
            <a:ext cx="46627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→  Livre disponible  →  Membre #1 notifié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22"/>
          <p:cNvSpPr/>
          <p:nvPr/>
        </p:nvSpPr>
        <p:spPr>
          <a:xfrm>
            <a:off x="5394960" y="960120"/>
            <a:ext cx="33825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0b429"/>
                </a:solidFill>
                <a:effectLst/>
                <a:uFillTx/>
                <a:latin typeface="Calibri"/>
                <a:ea typeface="Calibri"/>
              </a:rPr>
              <a:t>Logique FIFO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Shape 23"/>
          <p:cNvSpPr/>
          <p:nvPr/>
        </p:nvSpPr>
        <p:spPr>
          <a:xfrm>
            <a:off x="5394960" y="1417320"/>
            <a:ext cx="3382560" cy="749160"/>
          </a:xfrm>
          <a:prstGeom prst="rect">
            <a:avLst/>
          </a:prstGeom>
          <a:solidFill>
            <a:srgbClr val="243d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Shape 24"/>
          <p:cNvSpPr/>
          <p:nvPr/>
        </p:nvSpPr>
        <p:spPr>
          <a:xfrm>
            <a:off x="5394960" y="1417320"/>
            <a:ext cx="49680" cy="749160"/>
          </a:xfrm>
          <a:prstGeom prst="rect">
            <a:avLst/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25"/>
          <p:cNvSpPr/>
          <p:nvPr/>
        </p:nvSpPr>
        <p:spPr>
          <a:xfrm>
            <a:off x="5577840" y="1463040"/>
            <a:ext cx="30625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queuePosition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26"/>
          <p:cNvSpPr/>
          <p:nvPr/>
        </p:nvSpPr>
        <p:spPr>
          <a:xfrm>
            <a:off x="5577840" y="1764720"/>
            <a:ext cx="30625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f0b429"/>
                </a:solidFill>
                <a:effectLst/>
                <a:uFillTx/>
                <a:latin typeface="Calibri"/>
                <a:ea typeface="Calibri"/>
              </a:rPr>
              <a:t>Calculée automatiquement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Shape 27"/>
          <p:cNvSpPr/>
          <p:nvPr/>
        </p:nvSpPr>
        <p:spPr>
          <a:xfrm>
            <a:off x="5394960" y="2331720"/>
            <a:ext cx="3382560" cy="749160"/>
          </a:xfrm>
          <a:prstGeom prst="rect">
            <a:avLst/>
          </a:prstGeom>
          <a:solidFill>
            <a:srgbClr val="243d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28"/>
          <p:cNvSpPr/>
          <p:nvPr/>
        </p:nvSpPr>
        <p:spPr>
          <a:xfrm>
            <a:off x="5394960" y="2331720"/>
            <a:ext cx="49680" cy="749160"/>
          </a:xfrm>
          <a:prstGeom prst="rect">
            <a:avLst/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29"/>
          <p:cNvSpPr/>
          <p:nvPr/>
        </p:nvSpPr>
        <p:spPr>
          <a:xfrm>
            <a:off x="5577840" y="2377440"/>
            <a:ext cx="30625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Status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30"/>
          <p:cNvSpPr/>
          <p:nvPr/>
        </p:nvSpPr>
        <p:spPr>
          <a:xfrm>
            <a:off x="5577840" y="2679120"/>
            <a:ext cx="30625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f0b429"/>
                </a:solidFill>
                <a:effectLst/>
                <a:uFillTx/>
                <a:latin typeface="Calibri"/>
                <a:ea typeface="Calibri"/>
              </a:rPr>
              <a:t>PENDING → READY → COMPLETED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Shape 31"/>
          <p:cNvSpPr/>
          <p:nvPr/>
        </p:nvSpPr>
        <p:spPr>
          <a:xfrm>
            <a:off x="5394960" y="3246120"/>
            <a:ext cx="3382560" cy="749160"/>
          </a:xfrm>
          <a:prstGeom prst="rect">
            <a:avLst/>
          </a:prstGeom>
          <a:solidFill>
            <a:srgbClr val="243d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Shape 32"/>
          <p:cNvSpPr/>
          <p:nvPr/>
        </p:nvSpPr>
        <p:spPr>
          <a:xfrm>
            <a:off x="5394960" y="3246120"/>
            <a:ext cx="49680" cy="749160"/>
          </a:xfrm>
          <a:prstGeom prst="rect">
            <a:avLst/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33"/>
          <p:cNvSpPr/>
          <p:nvPr/>
        </p:nvSpPr>
        <p:spPr>
          <a:xfrm>
            <a:off x="5577840" y="3291840"/>
            <a:ext cx="30625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Annulation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34"/>
          <p:cNvSpPr/>
          <p:nvPr/>
        </p:nvSpPr>
        <p:spPr>
          <a:xfrm>
            <a:off x="5577840" y="3593520"/>
            <a:ext cx="30625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f0b429"/>
                </a:solidFill>
                <a:effectLst/>
                <a:uFillTx/>
                <a:latin typeface="Calibri"/>
                <a:ea typeface="Calibri"/>
              </a:rPr>
              <a:t>PENDING uniquement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Shape 35"/>
          <p:cNvSpPr/>
          <p:nvPr/>
        </p:nvSpPr>
        <p:spPr>
          <a:xfrm>
            <a:off x="5394960" y="4160520"/>
            <a:ext cx="3382560" cy="749160"/>
          </a:xfrm>
          <a:prstGeom prst="rect">
            <a:avLst/>
          </a:prstGeom>
          <a:solidFill>
            <a:srgbClr val="243d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Shape 36"/>
          <p:cNvSpPr/>
          <p:nvPr/>
        </p:nvSpPr>
        <p:spPr>
          <a:xfrm>
            <a:off x="5394960" y="4160520"/>
            <a:ext cx="49680" cy="749160"/>
          </a:xfrm>
          <a:prstGeom prst="rect">
            <a:avLst/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37"/>
          <p:cNvSpPr/>
          <p:nvPr/>
        </p:nvSpPr>
        <p:spPr>
          <a:xfrm>
            <a:off x="5577840" y="4206240"/>
            <a:ext cx="30625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Méthode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38"/>
          <p:cNvSpPr/>
          <p:nvPr/>
        </p:nvSpPr>
        <p:spPr>
          <a:xfrm>
            <a:off x="5577840" y="4507920"/>
            <a:ext cx="30625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f0b429"/>
                </a:solidFill>
                <a:effectLst/>
                <a:uFillTx/>
                <a:latin typeface="Calibri"/>
                <a:ea typeface="Calibri"/>
              </a:rPr>
              <a:t>findMaxQueuePositionForBook + 1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Shape 0"/>
          <p:cNvSpPr/>
          <p:nvPr/>
        </p:nvSpPr>
        <p:spPr>
          <a:xfrm>
            <a:off x="0" y="0"/>
            <a:ext cx="163800" cy="5142960"/>
          </a:xfrm>
          <a:prstGeom prst="rect">
            <a:avLst/>
          </a:prstGeom>
          <a:solidFill>
            <a:srgbClr val="0f1e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1"/>
          <p:cNvSpPr/>
          <p:nvPr/>
        </p:nvSpPr>
        <p:spPr>
          <a:xfrm>
            <a:off x="411480" y="255960"/>
            <a:ext cx="83203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pc="201" strike="noStrike">
                <a:solidFill>
                  <a:srgbClr val="1a3166"/>
                </a:solidFill>
                <a:effectLst/>
                <a:uFillTx/>
                <a:latin typeface="Calibri"/>
                <a:ea typeface="Calibri"/>
              </a:rPr>
              <a:t>05 · API REST &amp; Sécurité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2"/>
          <p:cNvSpPr/>
          <p:nvPr/>
        </p:nvSpPr>
        <p:spPr>
          <a:xfrm>
            <a:off x="411480" y="567000"/>
            <a:ext cx="83203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f1e4a"/>
                </a:solidFill>
                <a:effectLst/>
                <a:uFillTx/>
                <a:latin typeface="Calibri"/>
                <a:ea typeface="Calibri"/>
              </a:rPr>
              <a:t>Endpoints &amp; Spring Security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3"/>
          <p:cNvSpPr/>
          <p:nvPr/>
        </p:nvSpPr>
        <p:spPr>
          <a:xfrm>
            <a:off x="411480" y="1261800"/>
            <a:ext cx="5851440" cy="4197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4"/>
          <p:cNvSpPr/>
          <p:nvPr/>
        </p:nvSpPr>
        <p:spPr>
          <a:xfrm>
            <a:off x="411480" y="1261800"/>
            <a:ext cx="730800" cy="419760"/>
          </a:xfrm>
          <a:prstGeom prst="rect">
            <a:avLst/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5"/>
          <p:cNvSpPr/>
          <p:nvPr/>
        </p:nvSpPr>
        <p:spPr>
          <a:xfrm>
            <a:off x="411480" y="1261800"/>
            <a:ext cx="73080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6"/>
          <p:cNvSpPr/>
          <p:nvPr/>
        </p:nvSpPr>
        <p:spPr>
          <a:xfrm>
            <a:off x="1234440" y="1307520"/>
            <a:ext cx="292536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0f1e4a"/>
                </a:solidFill>
                <a:effectLst/>
                <a:uFillTx/>
                <a:latin typeface="Calibri"/>
                <a:ea typeface="Calibri"/>
              </a:rPr>
              <a:t>/api/authors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7"/>
          <p:cNvSpPr/>
          <p:nvPr/>
        </p:nvSpPr>
        <p:spPr>
          <a:xfrm>
            <a:off x="4206240" y="1307520"/>
            <a:ext cx="19652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Liste des auteurs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Shape 8"/>
          <p:cNvSpPr/>
          <p:nvPr/>
        </p:nvSpPr>
        <p:spPr>
          <a:xfrm>
            <a:off x="411480" y="1719000"/>
            <a:ext cx="5851440" cy="419760"/>
          </a:xfrm>
          <a:prstGeom prst="rect">
            <a:avLst/>
          </a:prstGeom>
          <a:solidFill>
            <a:srgbClr val="f8fa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9"/>
          <p:cNvSpPr/>
          <p:nvPr/>
        </p:nvSpPr>
        <p:spPr>
          <a:xfrm>
            <a:off x="411480" y="1719000"/>
            <a:ext cx="730800" cy="419760"/>
          </a:xfrm>
          <a:prstGeom prst="rect">
            <a:avLst/>
          </a:prstGeom>
          <a:solidFill>
            <a:srgbClr val="1a31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10"/>
          <p:cNvSpPr/>
          <p:nvPr/>
        </p:nvSpPr>
        <p:spPr>
          <a:xfrm>
            <a:off x="411480" y="1719000"/>
            <a:ext cx="73080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11"/>
          <p:cNvSpPr/>
          <p:nvPr/>
        </p:nvSpPr>
        <p:spPr>
          <a:xfrm>
            <a:off x="1234440" y="1764720"/>
            <a:ext cx="292536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0f1e4a"/>
                </a:solidFill>
                <a:effectLst/>
                <a:uFillTx/>
                <a:latin typeface="Calibri"/>
                <a:ea typeface="Calibri"/>
              </a:rPr>
              <a:t>/api/authors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12"/>
          <p:cNvSpPr/>
          <p:nvPr/>
        </p:nvSpPr>
        <p:spPr>
          <a:xfrm>
            <a:off x="4206240" y="1764720"/>
            <a:ext cx="19652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Créer un auteur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Shape 13"/>
          <p:cNvSpPr/>
          <p:nvPr/>
        </p:nvSpPr>
        <p:spPr>
          <a:xfrm>
            <a:off x="411480" y="2176200"/>
            <a:ext cx="5851440" cy="4197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14"/>
          <p:cNvSpPr/>
          <p:nvPr/>
        </p:nvSpPr>
        <p:spPr>
          <a:xfrm>
            <a:off x="411480" y="2176200"/>
            <a:ext cx="730800" cy="419760"/>
          </a:xfrm>
          <a:prstGeom prst="rect">
            <a:avLst/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15"/>
          <p:cNvSpPr/>
          <p:nvPr/>
        </p:nvSpPr>
        <p:spPr>
          <a:xfrm>
            <a:off x="411480" y="2176200"/>
            <a:ext cx="73080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16"/>
          <p:cNvSpPr/>
          <p:nvPr/>
        </p:nvSpPr>
        <p:spPr>
          <a:xfrm>
            <a:off x="1234440" y="2221920"/>
            <a:ext cx="292536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0f1e4a"/>
                </a:solidFill>
                <a:effectLst/>
                <a:uFillTx/>
                <a:latin typeface="Calibri"/>
                <a:ea typeface="Calibri"/>
              </a:rPr>
              <a:t>/api/books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17"/>
          <p:cNvSpPr/>
          <p:nvPr/>
        </p:nvSpPr>
        <p:spPr>
          <a:xfrm>
            <a:off x="4206240" y="2221920"/>
            <a:ext cx="19652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Catalogue complet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Shape 18"/>
          <p:cNvSpPr/>
          <p:nvPr/>
        </p:nvSpPr>
        <p:spPr>
          <a:xfrm>
            <a:off x="411480" y="2633400"/>
            <a:ext cx="5851440" cy="419760"/>
          </a:xfrm>
          <a:prstGeom prst="rect">
            <a:avLst/>
          </a:prstGeom>
          <a:solidFill>
            <a:srgbClr val="f8fa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19"/>
          <p:cNvSpPr/>
          <p:nvPr/>
        </p:nvSpPr>
        <p:spPr>
          <a:xfrm>
            <a:off x="411480" y="2633400"/>
            <a:ext cx="730800" cy="419760"/>
          </a:xfrm>
          <a:prstGeom prst="rect">
            <a:avLst/>
          </a:prstGeom>
          <a:solidFill>
            <a:srgbClr val="1a31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20"/>
          <p:cNvSpPr/>
          <p:nvPr/>
        </p:nvSpPr>
        <p:spPr>
          <a:xfrm>
            <a:off x="411480" y="2633400"/>
            <a:ext cx="73080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21"/>
          <p:cNvSpPr/>
          <p:nvPr/>
        </p:nvSpPr>
        <p:spPr>
          <a:xfrm>
            <a:off x="1234440" y="2679120"/>
            <a:ext cx="292536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0f1e4a"/>
                </a:solidFill>
                <a:effectLst/>
                <a:uFillTx/>
                <a:latin typeface="Calibri"/>
                <a:ea typeface="Calibri"/>
              </a:rPr>
              <a:t>/api/borrows/checkout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22"/>
          <p:cNvSpPr/>
          <p:nvPr/>
        </p:nvSpPr>
        <p:spPr>
          <a:xfrm>
            <a:off x="4206240" y="2679120"/>
            <a:ext cx="19652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Emprunter un livre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23"/>
          <p:cNvSpPr/>
          <p:nvPr/>
        </p:nvSpPr>
        <p:spPr>
          <a:xfrm>
            <a:off x="411480" y="3090600"/>
            <a:ext cx="5851440" cy="4197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24"/>
          <p:cNvSpPr/>
          <p:nvPr/>
        </p:nvSpPr>
        <p:spPr>
          <a:xfrm>
            <a:off x="411480" y="3090600"/>
            <a:ext cx="730800" cy="419760"/>
          </a:xfrm>
          <a:prstGeom prst="rect">
            <a:avLst/>
          </a:prstGeom>
          <a:solidFill>
            <a:srgbClr val="1a31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25"/>
          <p:cNvSpPr/>
          <p:nvPr/>
        </p:nvSpPr>
        <p:spPr>
          <a:xfrm>
            <a:off x="411480" y="3090600"/>
            <a:ext cx="73080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26"/>
          <p:cNvSpPr/>
          <p:nvPr/>
        </p:nvSpPr>
        <p:spPr>
          <a:xfrm>
            <a:off x="1234440" y="3136320"/>
            <a:ext cx="292536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0f1e4a"/>
                </a:solidFill>
                <a:effectLst/>
                <a:uFillTx/>
                <a:latin typeface="Calibri"/>
                <a:ea typeface="Calibri"/>
              </a:rPr>
              <a:t>/api/borrows/{id}/return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27"/>
          <p:cNvSpPr/>
          <p:nvPr/>
        </p:nvSpPr>
        <p:spPr>
          <a:xfrm>
            <a:off x="4206240" y="3136320"/>
            <a:ext cx="19652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Retourner un livre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Shape 28"/>
          <p:cNvSpPr/>
          <p:nvPr/>
        </p:nvSpPr>
        <p:spPr>
          <a:xfrm>
            <a:off x="411480" y="3547800"/>
            <a:ext cx="5851440" cy="419760"/>
          </a:xfrm>
          <a:prstGeom prst="rect">
            <a:avLst/>
          </a:prstGeom>
          <a:solidFill>
            <a:srgbClr val="f8fa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29"/>
          <p:cNvSpPr/>
          <p:nvPr/>
        </p:nvSpPr>
        <p:spPr>
          <a:xfrm>
            <a:off x="411480" y="3547800"/>
            <a:ext cx="730800" cy="419760"/>
          </a:xfrm>
          <a:prstGeom prst="rect">
            <a:avLst/>
          </a:prstGeom>
          <a:solidFill>
            <a:srgbClr val="1a31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30"/>
          <p:cNvSpPr/>
          <p:nvPr/>
        </p:nvSpPr>
        <p:spPr>
          <a:xfrm>
            <a:off x="411480" y="3547800"/>
            <a:ext cx="73080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31"/>
          <p:cNvSpPr/>
          <p:nvPr/>
        </p:nvSpPr>
        <p:spPr>
          <a:xfrm>
            <a:off x="1234440" y="3593520"/>
            <a:ext cx="292536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0f1e4a"/>
                </a:solidFill>
                <a:effectLst/>
                <a:uFillTx/>
                <a:latin typeface="Calibri"/>
                <a:ea typeface="Calibri"/>
              </a:rPr>
              <a:t>/api/borrows/{id}/renew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32"/>
          <p:cNvSpPr/>
          <p:nvPr/>
        </p:nvSpPr>
        <p:spPr>
          <a:xfrm>
            <a:off x="4206240" y="3593520"/>
            <a:ext cx="19652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Renouveler (max 3×)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Shape 33"/>
          <p:cNvSpPr/>
          <p:nvPr/>
        </p:nvSpPr>
        <p:spPr>
          <a:xfrm>
            <a:off x="411480" y="4005000"/>
            <a:ext cx="5851440" cy="4197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Shape 34"/>
          <p:cNvSpPr/>
          <p:nvPr/>
        </p:nvSpPr>
        <p:spPr>
          <a:xfrm>
            <a:off x="411480" y="4005000"/>
            <a:ext cx="730800" cy="419760"/>
          </a:xfrm>
          <a:prstGeom prst="rect">
            <a:avLst/>
          </a:prstGeom>
          <a:solidFill>
            <a:srgbClr val="1a31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35"/>
          <p:cNvSpPr/>
          <p:nvPr/>
        </p:nvSpPr>
        <p:spPr>
          <a:xfrm>
            <a:off x="411480" y="4005000"/>
            <a:ext cx="73080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36"/>
          <p:cNvSpPr/>
          <p:nvPr/>
        </p:nvSpPr>
        <p:spPr>
          <a:xfrm>
            <a:off x="1234440" y="4050720"/>
            <a:ext cx="292536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0f1e4a"/>
                </a:solidFill>
                <a:effectLst/>
                <a:uFillTx/>
                <a:latin typeface="Calibri"/>
                <a:ea typeface="Calibri"/>
              </a:rPr>
              <a:t>/api/reservations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37"/>
          <p:cNvSpPr/>
          <p:nvPr/>
        </p:nvSpPr>
        <p:spPr>
          <a:xfrm>
            <a:off x="4206240" y="4050720"/>
            <a:ext cx="19652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Réserver un livre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Shape 38"/>
          <p:cNvSpPr/>
          <p:nvPr/>
        </p:nvSpPr>
        <p:spPr>
          <a:xfrm>
            <a:off x="411480" y="4462200"/>
            <a:ext cx="5851440" cy="419760"/>
          </a:xfrm>
          <a:prstGeom prst="rect">
            <a:avLst/>
          </a:prstGeom>
          <a:solidFill>
            <a:srgbClr val="f8fa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Shape 39"/>
          <p:cNvSpPr/>
          <p:nvPr/>
        </p:nvSpPr>
        <p:spPr>
          <a:xfrm>
            <a:off x="411480" y="4462200"/>
            <a:ext cx="730800" cy="419760"/>
          </a:xfrm>
          <a:prstGeom prst="rect">
            <a:avLst/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40"/>
          <p:cNvSpPr/>
          <p:nvPr/>
        </p:nvSpPr>
        <p:spPr>
          <a:xfrm>
            <a:off x="411480" y="4462200"/>
            <a:ext cx="73080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41"/>
          <p:cNvSpPr/>
          <p:nvPr/>
        </p:nvSpPr>
        <p:spPr>
          <a:xfrm>
            <a:off x="1234440" y="4507920"/>
            <a:ext cx="292536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0f1e4a"/>
                </a:solidFill>
                <a:effectLst/>
                <a:uFillTx/>
                <a:latin typeface="Calibri"/>
                <a:ea typeface="Calibri"/>
              </a:rPr>
              <a:t>/api/reservations/queue/{id}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42"/>
          <p:cNvSpPr/>
          <p:nvPr/>
        </p:nvSpPr>
        <p:spPr>
          <a:xfrm>
            <a:off x="4206240" y="4507920"/>
            <a:ext cx="19652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File d'attente FIFO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Shape 43"/>
          <p:cNvSpPr/>
          <p:nvPr/>
        </p:nvSpPr>
        <p:spPr>
          <a:xfrm>
            <a:off x="6492240" y="1261800"/>
            <a:ext cx="2331000" cy="3629520"/>
          </a:xfrm>
          <a:prstGeom prst="rect">
            <a:avLst/>
          </a:prstGeom>
          <a:solidFill>
            <a:srgbClr val="0f1e4a"/>
          </a:solidFill>
          <a:ln w="0">
            <a:noFill/>
          </a:ln>
          <a:effectLst>
            <a:outerShdw algn="bl" blurRad="152280" dir="8100000" dist="37674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3" name="Image 0" descr="preencoded.png"/>
          <p:cNvPicPr/>
          <p:nvPr/>
        </p:nvPicPr>
        <p:blipFill>
          <a:blip r:embed="rId1"/>
          <a:stretch/>
        </p:blipFill>
        <p:spPr>
          <a:xfrm>
            <a:off x="6858000" y="1371600"/>
            <a:ext cx="502200" cy="50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4" name="Text 44"/>
          <p:cNvSpPr/>
          <p:nvPr/>
        </p:nvSpPr>
        <p:spPr>
          <a:xfrm>
            <a:off x="6492240" y="1371600"/>
            <a:ext cx="23310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0b429"/>
                </a:solidFill>
                <a:effectLst/>
                <a:uFillTx/>
                <a:latin typeface="Calibri"/>
                <a:ea typeface="Calibri"/>
              </a:rPr>
              <a:t>  Sécurité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45"/>
          <p:cNvSpPr/>
          <p:nvPr/>
        </p:nvSpPr>
        <p:spPr>
          <a:xfrm>
            <a:off x="6583680" y="2030040"/>
            <a:ext cx="212076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· Basic Auth (HTTP)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46"/>
          <p:cNvSpPr/>
          <p:nvPr/>
        </p:nvSpPr>
        <p:spPr>
          <a:xfrm>
            <a:off x="6583680" y="2523600"/>
            <a:ext cx="212076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· CSRF désactivé (REST)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47"/>
          <p:cNvSpPr/>
          <p:nvPr/>
        </p:nvSpPr>
        <p:spPr>
          <a:xfrm>
            <a:off x="6583680" y="3017520"/>
            <a:ext cx="212076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· BCrypt (mots de passe)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48"/>
          <p:cNvSpPr/>
          <p:nvPr/>
        </p:nvSpPr>
        <p:spPr>
          <a:xfrm>
            <a:off x="6583680" y="3511440"/>
            <a:ext cx="212076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· Rôle ADMIN : /api/admin/**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49"/>
          <p:cNvSpPr/>
          <p:nvPr/>
        </p:nvSpPr>
        <p:spPr>
          <a:xfrm>
            <a:off x="6583680" y="4005000"/>
            <a:ext cx="212076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· Rôle USER : autres endpoints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50"/>
          <p:cNvSpPr/>
          <p:nvPr/>
        </p:nvSpPr>
        <p:spPr>
          <a:xfrm>
            <a:off x="6583680" y="4498920"/>
            <a:ext cx="212076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· HTTP 401 si non authentifié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Shape 0"/>
          <p:cNvSpPr/>
          <p:nvPr/>
        </p:nvSpPr>
        <p:spPr>
          <a:xfrm>
            <a:off x="0" y="0"/>
            <a:ext cx="163800" cy="5142960"/>
          </a:xfrm>
          <a:prstGeom prst="rect">
            <a:avLst/>
          </a:prstGeom>
          <a:solidFill>
            <a:srgbClr val="f0b42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1"/>
          <p:cNvSpPr/>
          <p:nvPr/>
        </p:nvSpPr>
        <p:spPr>
          <a:xfrm>
            <a:off x="411480" y="255960"/>
            <a:ext cx="82288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pc="201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06 · Tests &amp; Validation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2"/>
          <p:cNvSpPr/>
          <p:nvPr/>
        </p:nvSpPr>
        <p:spPr>
          <a:xfrm>
            <a:off x="411480" y="5670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Résultats du Build &amp; Stratégie de Test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Shape 3"/>
          <p:cNvSpPr/>
          <p:nvPr/>
        </p:nvSpPr>
        <p:spPr>
          <a:xfrm>
            <a:off x="411480" y="1234440"/>
            <a:ext cx="8320320" cy="657720"/>
          </a:xfrm>
          <a:prstGeom prst="rect">
            <a:avLst/>
          </a:prstGeom>
          <a:solidFill>
            <a:srgbClr val="0f4c1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4"/>
          <p:cNvSpPr/>
          <p:nvPr/>
        </p:nvSpPr>
        <p:spPr>
          <a:xfrm>
            <a:off x="411480" y="1234440"/>
            <a:ext cx="83203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✓  BUILD SUCCESS — 49 fichiers Java compilés · Java 21 · Maven · 4.575s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5"/>
          <p:cNvSpPr/>
          <p:nvPr/>
        </p:nvSpPr>
        <p:spPr>
          <a:xfrm>
            <a:off x="411480" y="2084760"/>
            <a:ext cx="2742480" cy="2742480"/>
          </a:xfrm>
          <a:prstGeom prst="rect">
            <a:avLst/>
          </a:prstGeom>
          <a:solidFill>
            <a:srgbClr val="243d82"/>
          </a:solidFill>
          <a:ln w="0">
            <a:noFill/>
          </a:ln>
          <a:effectLst>
            <a:outerShdw algn="bl" blurRad="12708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87" name="Image 0" descr="preencoded.png"/>
          <p:cNvPicPr/>
          <p:nvPr/>
        </p:nvPicPr>
        <p:blipFill>
          <a:blip r:embed="rId1"/>
          <a:stretch/>
        </p:blipFill>
        <p:spPr>
          <a:xfrm>
            <a:off x="594360" y="217620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8" name="Text 6"/>
          <p:cNvSpPr/>
          <p:nvPr/>
        </p:nvSpPr>
        <p:spPr>
          <a:xfrm>
            <a:off x="548640" y="2743200"/>
            <a:ext cx="24681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0b429"/>
                </a:solidFill>
                <a:effectLst/>
                <a:uFillTx/>
                <a:latin typeface="Calibri"/>
                <a:ea typeface="Calibri"/>
              </a:rPr>
              <a:t>Tests Unitaires H2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7"/>
          <p:cNvSpPr/>
          <p:nvPr/>
        </p:nvSpPr>
        <p:spPr>
          <a:xfrm>
            <a:off x="594360" y="3218760"/>
            <a:ext cx="24224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· Base H2 en mémoire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8"/>
          <p:cNvSpPr/>
          <p:nvPr/>
        </p:nvSpPr>
        <p:spPr>
          <a:xfrm>
            <a:off x="594360" y="3602880"/>
            <a:ext cx="24224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· Profil Spring 'test'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9"/>
          <p:cNvSpPr/>
          <p:nvPr/>
        </p:nvSpPr>
        <p:spPr>
          <a:xfrm>
            <a:off x="594360" y="3986640"/>
            <a:ext cx="24224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· Rollback automatique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10"/>
          <p:cNvSpPr/>
          <p:nvPr/>
        </p:nvSpPr>
        <p:spPr>
          <a:xfrm>
            <a:off x="594360" y="4370760"/>
            <a:ext cx="24224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· Valide toutes les règles métier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Shape 11"/>
          <p:cNvSpPr/>
          <p:nvPr/>
        </p:nvSpPr>
        <p:spPr>
          <a:xfrm>
            <a:off x="3310200" y="2084760"/>
            <a:ext cx="2742480" cy="2742480"/>
          </a:xfrm>
          <a:prstGeom prst="rect">
            <a:avLst/>
          </a:prstGeom>
          <a:solidFill>
            <a:srgbClr val="243d82"/>
          </a:solidFill>
          <a:ln w="0">
            <a:noFill/>
          </a:ln>
          <a:effectLst>
            <a:outerShdw algn="bl" blurRad="12708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94" name="Image 1" descr="preencoded.png"/>
          <p:cNvPicPr/>
          <p:nvPr/>
        </p:nvPicPr>
        <p:blipFill>
          <a:blip r:embed="rId2"/>
          <a:stretch/>
        </p:blipFill>
        <p:spPr>
          <a:xfrm>
            <a:off x="3493080" y="217620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5" name="Text 12"/>
          <p:cNvSpPr/>
          <p:nvPr/>
        </p:nvSpPr>
        <p:spPr>
          <a:xfrm>
            <a:off x="3447360" y="2743200"/>
            <a:ext cx="24681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0b429"/>
                </a:solidFill>
                <a:effectLst/>
                <a:uFillTx/>
                <a:latin typeface="Calibri"/>
                <a:ea typeface="Calibri"/>
              </a:rPr>
              <a:t>Script test_api.sh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 13"/>
          <p:cNvSpPr/>
          <p:nvPr/>
        </p:nvSpPr>
        <p:spPr>
          <a:xfrm>
            <a:off x="3493080" y="3218760"/>
            <a:ext cx="24224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· Tests cURL automatisés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14"/>
          <p:cNvSpPr/>
          <p:nvPr/>
        </p:nvSpPr>
        <p:spPr>
          <a:xfrm>
            <a:off x="3493080" y="3602880"/>
            <a:ext cx="24224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· Tous les endpoints couverts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15"/>
          <p:cNvSpPr/>
          <p:nvPr/>
        </p:nvSpPr>
        <p:spPr>
          <a:xfrm>
            <a:off x="3493080" y="3986640"/>
            <a:ext cx="24224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· Auth Basic incluse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16"/>
          <p:cNvSpPr/>
          <p:nvPr/>
        </p:nvSpPr>
        <p:spPr>
          <a:xfrm>
            <a:off x="3493080" y="4370760"/>
            <a:ext cx="24224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· Cas d'erreur validés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Shape 17"/>
          <p:cNvSpPr/>
          <p:nvPr/>
        </p:nvSpPr>
        <p:spPr>
          <a:xfrm>
            <a:off x="6208920" y="2084760"/>
            <a:ext cx="2742480" cy="2742480"/>
          </a:xfrm>
          <a:prstGeom prst="rect">
            <a:avLst/>
          </a:prstGeom>
          <a:solidFill>
            <a:srgbClr val="f0b429"/>
          </a:solidFill>
          <a:ln w="0">
            <a:noFill/>
          </a:ln>
          <a:effectLst>
            <a:outerShdw algn="bl" blurRad="12708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1" name="Image 2" descr="preencoded.png"/>
          <p:cNvPicPr/>
          <p:nvPr/>
        </p:nvPicPr>
        <p:blipFill>
          <a:blip r:embed="rId3"/>
          <a:stretch/>
        </p:blipFill>
        <p:spPr>
          <a:xfrm>
            <a:off x="6391800" y="217620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2" name="Text 18"/>
          <p:cNvSpPr/>
          <p:nvPr/>
        </p:nvSpPr>
        <p:spPr>
          <a:xfrm>
            <a:off x="6346080" y="2743200"/>
            <a:ext cx="24681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f1e4a"/>
                </a:solidFill>
                <a:effectLst/>
                <a:uFillTx/>
                <a:latin typeface="Calibri"/>
                <a:ea typeface="Calibri"/>
              </a:rPr>
              <a:t>Gestion des Exceptions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19"/>
          <p:cNvSpPr/>
          <p:nvPr/>
        </p:nvSpPr>
        <p:spPr>
          <a:xfrm>
            <a:off x="6391800" y="3218760"/>
            <a:ext cx="24224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0f1e4a"/>
                </a:solidFill>
                <a:effectLst/>
                <a:uFillTx/>
                <a:latin typeface="Calibri"/>
                <a:ea typeface="Calibri"/>
              </a:rPr>
              <a:t>· HTTP 404 → ResourceNotFoundException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20"/>
          <p:cNvSpPr/>
          <p:nvPr/>
        </p:nvSpPr>
        <p:spPr>
          <a:xfrm>
            <a:off x="6391800" y="3602880"/>
            <a:ext cx="24224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0f1e4a"/>
                </a:solidFill>
                <a:effectLst/>
                <a:uFillTx/>
                <a:latin typeface="Calibri"/>
                <a:ea typeface="Calibri"/>
              </a:rPr>
              <a:t>· HTTP 400 → Validation Jakarta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21"/>
          <p:cNvSpPr/>
          <p:nvPr/>
        </p:nvSpPr>
        <p:spPr>
          <a:xfrm>
            <a:off x="6391800" y="3986640"/>
            <a:ext cx="24224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0f1e4a"/>
                </a:solidFill>
                <a:effectLst/>
                <a:uFillTx/>
                <a:latin typeface="Calibri"/>
                <a:ea typeface="Calibri"/>
              </a:rPr>
              <a:t>· HTTP 500 → Exception générique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22"/>
          <p:cNvSpPr/>
          <p:nvPr/>
        </p:nvSpPr>
        <p:spPr>
          <a:xfrm>
            <a:off x="6391800" y="4370760"/>
            <a:ext cx="24224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0f1e4a"/>
                </a:solidFill>
                <a:effectLst/>
                <a:uFillTx/>
                <a:latin typeface="Calibri"/>
                <a:ea typeface="Calibri"/>
              </a:rPr>
              <a:t>· Réponses JSON normalisées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Shape 0"/>
          <p:cNvSpPr/>
          <p:nvPr/>
        </p:nvSpPr>
        <p:spPr>
          <a:xfrm>
            <a:off x="0" y="0"/>
            <a:ext cx="163800" cy="5142960"/>
          </a:xfrm>
          <a:prstGeom prst="rect">
            <a:avLst/>
          </a:prstGeom>
          <a:solidFill>
            <a:srgbClr val="0f1e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1"/>
          <p:cNvSpPr/>
          <p:nvPr/>
        </p:nvSpPr>
        <p:spPr>
          <a:xfrm>
            <a:off x="411480" y="255960"/>
            <a:ext cx="83203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0f1e4a"/>
                </a:solidFill>
                <a:effectLst/>
                <a:uFillTx/>
                <a:latin typeface="Calibri"/>
                <a:ea typeface="Calibri"/>
              </a:rPr>
              <a:t>Bilan du Projet en Chiffres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Shape 2"/>
          <p:cNvSpPr/>
          <p:nvPr/>
        </p:nvSpPr>
        <p:spPr>
          <a:xfrm>
            <a:off x="411480" y="1078920"/>
            <a:ext cx="2742480" cy="1718280"/>
          </a:xfrm>
          <a:prstGeom prst="rect">
            <a:avLst/>
          </a:prstGeom>
          <a:solidFill>
            <a:srgbClr val="0f1e4a"/>
          </a:solidFill>
          <a:ln w="0">
            <a:noFill/>
          </a:ln>
          <a:effectLst>
            <a:outerShdw algn="bl" blurRad="17784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 3"/>
          <p:cNvSpPr/>
          <p:nvPr/>
        </p:nvSpPr>
        <p:spPr>
          <a:xfrm>
            <a:off x="411480" y="1243440"/>
            <a:ext cx="274248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en-US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Text 4"/>
          <p:cNvSpPr/>
          <p:nvPr/>
        </p:nvSpPr>
        <p:spPr>
          <a:xfrm>
            <a:off x="411480" y="2221920"/>
            <a:ext cx="27424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Entités JPA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Shape 5"/>
          <p:cNvSpPr/>
          <p:nvPr/>
        </p:nvSpPr>
        <p:spPr>
          <a:xfrm>
            <a:off x="3310200" y="1078920"/>
            <a:ext cx="2742480" cy="1718280"/>
          </a:xfrm>
          <a:prstGeom prst="rect">
            <a:avLst/>
          </a:prstGeom>
          <a:solidFill>
            <a:srgbClr val="0891b2"/>
          </a:solidFill>
          <a:ln w="0">
            <a:noFill/>
          </a:ln>
          <a:effectLst>
            <a:outerShdw algn="bl" blurRad="17784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6"/>
          <p:cNvSpPr/>
          <p:nvPr/>
        </p:nvSpPr>
        <p:spPr>
          <a:xfrm>
            <a:off x="3310200" y="1243440"/>
            <a:ext cx="274248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en-US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7"/>
          <p:cNvSpPr/>
          <p:nvPr/>
        </p:nvSpPr>
        <p:spPr>
          <a:xfrm>
            <a:off x="3310200" y="2221920"/>
            <a:ext cx="27424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Repositories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Shape 8"/>
          <p:cNvSpPr/>
          <p:nvPr/>
        </p:nvSpPr>
        <p:spPr>
          <a:xfrm>
            <a:off x="6208920" y="1078920"/>
            <a:ext cx="2742480" cy="1718280"/>
          </a:xfrm>
          <a:prstGeom prst="rect">
            <a:avLst/>
          </a:prstGeom>
          <a:solidFill>
            <a:srgbClr val="6b21a8"/>
          </a:solidFill>
          <a:ln w="0">
            <a:noFill/>
          </a:ln>
          <a:effectLst>
            <a:outerShdw algn="bl" blurRad="17784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9"/>
          <p:cNvSpPr/>
          <p:nvPr/>
        </p:nvSpPr>
        <p:spPr>
          <a:xfrm>
            <a:off x="6208920" y="1243440"/>
            <a:ext cx="274248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US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10"/>
          <p:cNvSpPr/>
          <p:nvPr/>
        </p:nvSpPr>
        <p:spPr>
          <a:xfrm>
            <a:off x="6208920" y="2221920"/>
            <a:ext cx="27424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Services Métier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11"/>
          <p:cNvSpPr/>
          <p:nvPr/>
        </p:nvSpPr>
        <p:spPr>
          <a:xfrm>
            <a:off x="411480" y="2999160"/>
            <a:ext cx="2742480" cy="1718280"/>
          </a:xfrm>
          <a:prstGeom prst="rect">
            <a:avLst/>
          </a:prstGeom>
          <a:solidFill>
            <a:srgbClr val="1a5c3e"/>
          </a:solidFill>
          <a:ln w="0">
            <a:noFill/>
          </a:ln>
          <a:effectLst>
            <a:outerShdw algn="bl" blurRad="17784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12"/>
          <p:cNvSpPr/>
          <p:nvPr/>
        </p:nvSpPr>
        <p:spPr>
          <a:xfrm>
            <a:off x="411480" y="3163680"/>
            <a:ext cx="274248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US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13"/>
          <p:cNvSpPr/>
          <p:nvPr/>
        </p:nvSpPr>
        <p:spPr>
          <a:xfrm>
            <a:off x="411480" y="4142160"/>
            <a:ext cx="27424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Controllers REST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Shape 14"/>
          <p:cNvSpPr/>
          <p:nvPr/>
        </p:nvSpPr>
        <p:spPr>
          <a:xfrm>
            <a:off x="3310200" y="2999160"/>
            <a:ext cx="2742480" cy="1718280"/>
          </a:xfrm>
          <a:prstGeom prst="rect">
            <a:avLst/>
          </a:prstGeom>
          <a:solidFill>
            <a:srgbClr val="1a3166"/>
          </a:solidFill>
          <a:ln w="0">
            <a:noFill/>
          </a:ln>
          <a:effectLst>
            <a:outerShdw algn="bl" blurRad="17784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15"/>
          <p:cNvSpPr/>
          <p:nvPr/>
        </p:nvSpPr>
        <p:spPr>
          <a:xfrm>
            <a:off x="3310200" y="3163680"/>
            <a:ext cx="274248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49</a:t>
            </a:r>
            <a:endParaRPr lang="en-US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16"/>
          <p:cNvSpPr/>
          <p:nvPr/>
        </p:nvSpPr>
        <p:spPr>
          <a:xfrm>
            <a:off x="3310200" y="4142160"/>
            <a:ext cx="27424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Fichiers Java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Shape 17"/>
          <p:cNvSpPr/>
          <p:nvPr/>
        </p:nvSpPr>
        <p:spPr>
          <a:xfrm>
            <a:off x="6208920" y="2999160"/>
            <a:ext cx="2742480" cy="1718280"/>
          </a:xfrm>
          <a:prstGeom prst="rect">
            <a:avLst/>
          </a:prstGeom>
          <a:solidFill>
            <a:srgbClr val="f0b429"/>
          </a:solidFill>
          <a:ln w="0">
            <a:noFill/>
          </a:ln>
          <a:effectLst>
            <a:outerShdw algn="bl" blurRad="17784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18"/>
          <p:cNvSpPr/>
          <p:nvPr/>
        </p:nvSpPr>
        <p:spPr>
          <a:xfrm>
            <a:off x="6208920" y="3163680"/>
            <a:ext cx="274248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200" b="1" u="none" strike="noStrike">
                <a:solidFill>
                  <a:srgbClr val="0f1e4a"/>
                </a:solidFill>
                <a:effectLst/>
                <a:uFillTx/>
                <a:latin typeface="Calibri"/>
                <a:ea typeface="Calibri"/>
              </a:rPr>
              <a:t>100%</a:t>
            </a:r>
            <a:endParaRPr lang="en-US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19"/>
          <p:cNvSpPr/>
          <p:nvPr/>
        </p:nvSpPr>
        <p:spPr>
          <a:xfrm>
            <a:off x="6208920" y="4142160"/>
            <a:ext cx="27424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f1e4a"/>
                </a:solidFill>
                <a:effectLst/>
                <a:uFillTx/>
                <a:latin typeface="Calibri"/>
                <a:ea typeface="Calibri"/>
              </a:rPr>
              <a:t>Fonctionnalités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Shape 0"/>
          <p:cNvSpPr/>
          <p:nvPr/>
        </p:nvSpPr>
        <p:spPr>
          <a:xfrm>
            <a:off x="0" y="0"/>
            <a:ext cx="163800" cy="5142960"/>
          </a:xfrm>
          <a:prstGeom prst="rect">
            <a:avLst/>
          </a:prstGeom>
          <a:solidFill>
            <a:srgbClr val="f0b42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Shape 1"/>
          <p:cNvSpPr/>
          <p:nvPr/>
        </p:nvSpPr>
        <p:spPr>
          <a:xfrm>
            <a:off x="8979480" y="0"/>
            <a:ext cx="163800" cy="5142960"/>
          </a:xfrm>
          <a:prstGeom prst="rect">
            <a:avLst/>
          </a:prstGeom>
          <a:solidFill>
            <a:srgbClr val="f0b42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Text 2"/>
          <p:cNvSpPr/>
          <p:nvPr/>
        </p:nvSpPr>
        <p:spPr>
          <a:xfrm>
            <a:off x="411480" y="255960"/>
            <a:ext cx="83203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pc="201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07 · Conclusion &amp; Perspectives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3"/>
          <p:cNvSpPr/>
          <p:nvPr/>
        </p:nvSpPr>
        <p:spPr>
          <a:xfrm>
            <a:off x="411480" y="567000"/>
            <a:ext cx="83203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Ce que nous avons livré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4"/>
          <p:cNvSpPr/>
          <p:nvPr/>
        </p:nvSpPr>
        <p:spPr>
          <a:xfrm>
            <a:off x="411480" y="1261800"/>
            <a:ext cx="45712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0b429"/>
                </a:solidFill>
                <a:effectLst/>
                <a:uFillTx/>
                <a:latin typeface="Calibri"/>
                <a:ea typeface="Calibri"/>
              </a:rPr>
              <a:t>Réalisations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2" name="Image 0" descr="preencoded.png"/>
          <p:cNvPicPr/>
          <p:nvPr/>
        </p:nvPicPr>
        <p:blipFill>
          <a:blip r:embed="rId1"/>
          <a:stretch/>
        </p:blipFill>
        <p:spPr>
          <a:xfrm>
            <a:off x="411480" y="173736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3" name="Text 5"/>
          <p:cNvSpPr/>
          <p:nvPr/>
        </p:nvSpPr>
        <p:spPr>
          <a:xfrm>
            <a:off x="804600" y="1691640"/>
            <a:ext cx="4159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API REST complète — 17 endpoints couvrant tous les besoins métier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4" name="Image 1" descr="preencoded.png"/>
          <p:cNvPicPr/>
          <p:nvPr/>
        </p:nvPicPr>
        <p:blipFill>
          <a:blip r:embed="rId2"/>
          <a:stretch/>
        </p:blipFill>
        <p:spPr>
          <a:xfrm>
            <a:off x="411480" y="239580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5" name="Text 6"/>
          <p:cNvSpPr/>
          <p:nvPr/>
        </p:nvSpPr>
        <p:spPr>
          <a:xfrm>
            <a:off x="804600" y="2350080"/>
            <a:ext cx="4159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Intégrité des données — Soft Delete, Optimistic Locking, FIFO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6" name="Image 2" descr="preencoded.png"/>
          <p:cNvPicPr/>
          <p:nvPr/>
        </p:nvPicPr>
        <p:blipFill>
          <a:blip r:embed="rId3"/>
          <a:stretch/>
        </p:blipFill>
        <p:spPr>
          <a:xfrm>
            <a:off x="411480" y="305424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7" name="Text 7"/>
          <p:cNvSpPr/>
          <p:nvPr/>
        </p:nvSpPr>
        <p:spPr>
          <a:xfrm>
            <a:off x="804600" y="3008520"/>
            <a:ext cx="4159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Sécurité — Spring Security, Basic Auth, rôles ADMIN/USER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8" name="Image 3" descr="preencoded.png"/>
          <p:cNvPicPr/>
          <p:nvPr/>
        </p:nvPicPr>
        <p:blipFill>
          <a:blip r:embed="rId4"/>
          <a:stretch/>
        </p:blipFill>
        <p:spPr>
          <a:xfrm>
            <a:off x="411480" y="37123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9" name="Text 8"/>
          <p:cNvSpPr/>
          <p:nvPr/>
        </p:nvSpPr>
        <p:spPr>
          <a:xfrm>
            <a:off x="804600" y="3666600"/>
            <a:ext cx="4159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Architecture propre — 4 couches, DTOs, GlobalExceptionHandler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40" name="Image 4" descr="preencoded.png"/>
          <p:cNvPicPr/>
          <p:nvPr/>
        </p:nvPicPr>
        <p:blipFill>
          <a:blip r:embed="rId5"/>
          <a:stretch/>
        </p:blipFill>
        <p:spPr>
          <a:xfrm>
            <a:off x="411480" y="437076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1" name="Text 9"/>
          <p:cNvSpPr/>
          <p:nvPr/>
        </p:nvSpPr>
        <p:spPr>
          <a:xfrm>
            <a:off x="804600" y="4325040"/>
            <a:ext cx="4159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a8c8f0"/>
                </a:solidFill>
                <a:effectLst/>
                <a:uFillTx/>
                <a:latin typeface="Calibri"/>
                <a:ea typeface="Calibri"/>
              </a:rPr>
              <a:t>Build 100% réussi — 49 fichiers, Maven, Java 21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Shape 10"/>
          <p:cNvSpPr/>
          <p:nvPr/>
        </p:nvSpPr>
        <p:spPr>
          <a:xfrm>
            <a:off x="5074920" y="1234440"/>
            <a:ext cx="26640" cy="3565440"/>
          </a:xfrm>
          <a:prstGeom prst="rect">
            <a:avLst/>
          </a:prstGeom>
          <a:solidFill>
            <a:srgbClr val="243d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11"/>
          <p:cNvSpPr/>
          <p:nvPr/>
        </p:nvSpPr>
        <p:spPr>
          <a:xfrm>
            <a:off x="5257800" y="1261800"/>
            <a:ext cx="34740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0b429"/>
                </a:solidFill>
                <a:effectLst/>
                <a:uFillTx/>
                <a:latin typeface="Calibri"/>
                <a:ea typeface="Calibri"/>
              </a:rPr>
              <a:t>Perspectives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Shape 12"/>
          <p:cNvSpPr/>
          <p:nvPr/>
        </p:nvSpPr>
        <p:spPr>
          <a:xfrm>
            <a:off x="5257800" y="1691640"/>
            <a:ext cx="3382560" cy="474840"/>
          </a:xfrm>
          <a:prstGeom prst="rect">
            <a:avLst/>
          </a:prstGeom>
          <a:solidFill>
            <a:srgbClr val="1a31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13"/>
          <p:cNvSpPr/>
          <p:nvPr/>
        </p:nvSpPr>
        <p:spPr>
          <a:xfrm>
            <a:off x="5257800" y="1691640"/>
            <a:ext cx="49680" cy="474840"/>
          </a:xfrm>
          <a:prstGeom prst="rect">
            <a:avLst/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46" name="Image 5" descr="preencoded.png"/>
          <p:cNvPicPr/>
          <p:nvPr/>
        </p:nvPicPr>
        <p:blipFill>
          <a:blip r:embed="rId6"/>
          <a:stretch/>
        </p:blipFill>
        <p:spPr>
          <a:xfrm>
            <a:off x="5376600" y="177408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7" name="Text 14"/>
          <p:cNvSpPr/>
          <p:nvPr/>
        </p:nvSpPr>
        <p:spPr>
          <a:xfrm>
            <a:off x="5742360" y="1755720"/>
            <a:ext cx="28339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Authentification JWT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Shape 15"/>
          <p:cNvSpPr/>
          <p:nvPr/>
        </p:nvSpPr>
        <p:spPr>
          <a:xfrm>
            <a:off x="5257800" y="2286000"/>
            <a:ext cx="3382560" cy="474840"/>
          </a:xfrm>
          <a:prstGeom prst="rect">
            <a:avLst/>
          </a:prstGeom>
          <a:solidFill>
            <a:srgbClr val="1a31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Shape 16"/>
          <p:cNvSpPr/>
          <p:nvPr/>
        </p:nvSpPr>
        <p:spPr>
          <a:xfrm>
            <a:off x="5257800" y="2286000"/>
            <a:ext cx="49680" cy="474840"/>
          </a:xfrm>
          <a:prstGeom prst="rect">
            <a:avLst/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0" name="Image 6" descr="preencoded.png"/>
          <p:cNvPicPr/>
          <p:nvPr/>
        </p:nvPicPr>
        <p:blipFill>
          <a:blip r:embed="rId7"/>
          <a:stretch/>
        </p:blipFill>
        <p:spPr>
          <a:xfrm>
            <a:off x="5376600" y="236844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1" name="Text 17"/>
          <p:cNvSpPr/>
          <p:nvPr/>
        </p:nvSpPr>
        <p:spPr>
          <a:xfrm>
            <a:off x="5742360" y="2350080"/>
            <a:ext cx="28339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Frontend React / Angular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Shape 18"/>
          <p:cNvSpPr/>
          <p:nvPr/>
        </p:nvSpPr>
        <p:spPr>
          <a:xfrm>
            <a:off x="5257800" y="2880360"/>
            <a:ext cx="3382560" cy="474840"/>
          </a:xfrm>
          <a:prstGeom prst="rect">
            <a:avLst/>
          </a:prstGeom>
          <a:solidFill>
            <a:srgbClr val="1a31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Shape 19"/>
          <p:cNvSpPr/>
          <p:nvPr/>
        </p:nvSpPr>
        <p:spPr>
          <a:xfrm>
            <a:off x="5257800" y="2880360"/>
            <a:ext cx="49680" cy="474840"/>
          </a:xfrm>
          <a:prstGeom prst="rect">
            <a:avLst/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4" name="Image 7" descr="preencoded.png"/>
          <p:cNvPicPr/>
          <p:nvPr/>
        </p:nvPicPr>
        <p:blipFill>
          <a:blip r:embed="rId8"/>
          <a:stretch/>
        </p:blipFill>
        <p:spPr>
          <a:xfrm>
            <a:off x="5376600" y="296280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5" name="Text 20"/>
          <p:cNvSpPr/>
          <p:nvPr/>
        </p:nvSpPr>
        <p:spPr>
          <a:xfrm>
            <a:off x="5742360" y="2944440"/>
            <a:ext cx="28339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Notifications e-mail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6" name="Shape 21"/>
          <p:cNvSpPr/>
          <p:nvPr/>
        </p:nvSpPr>
        <p:spPr>
          <a:xfrm>
            <a:off x="5257800" y="3474720"/>
            <a:ext cx="3382560" cy="474840"/>
          </a:xfrm>
          <a:prstGeom prst="rect">
            <a:avLst/>
          </a:prstGeom>
          <a:solidFill>
            <a:srgbClr val="1a31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Shape 22"/>
          <p:cNvSpPr/>
          <p:nvPr/>
        </p:nvSpPr>
        <p:spPr>
          <a:xfrm>
            <a:off x="5257800" y="3474720"/>
            <a:ext cx="49680" cy="474840"/>
          </a:xfrm>
          <a:prstGeom prst="rect">
            <a:avLst/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8" name="Image 8" descr="preencoded.png"/>
          <p:cNvPicPr/>
          <p:nvPr/>
        </p:nvPicPr>
        <p:blipFill>
          <a:blip r:embed="rId9"/>
          <a:stretch/>
        </p:blipFill>
        <p:spPr>
          <a:xfrm>
            <a:off x="5376600" y="355716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9" name="Text 23"/>
          <p:cNvSpPr/>
          <p:nvPr/>
        </p:nvSpPr>
        <p:spPr>
          <a:xfrm>
            <a:off x="5742360" y="3538800"/>
            <a:ext cx="28339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Statistiques &amp; Reporting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Shape 24"/>
          <p:cNvSpPr/>
          <p:nvPr/>
        </p:nvSpPr>
        <p:spPr>
          <a:xfrm>
            <a:off x="5257800" y="4069080"/>
            <a:ext cx="3382560" cy="474840"/>
          </a:xfrm>
          <a:prstGeom prst="rect">
            <a:avLst/>
          </a:prstGeom>
          <a:solidFill>
            <a:srgbClr val="1a31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Shape 25"/>
          <p:cNvSpPr/>
          <p:nvPr/>
        </p:nvSpPr>
        <p:spPr>
          <a:xfrm>
            <a:off x="5257800" y="4069080"/>
            <a:ext cx="49680" cy="474840"/>
          </a:xfrm>
          <a:prstGeom prst="rect">
            <a:avLst/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2" name="Image 9" descr="preencoded.png"/>
          <p:cNvPicPr/>
          <p:nvPr/>
        </p:nvPicPr>
        <p:blipFill>
          <a:blip r:embed="rId10"/>
          <a:stretch/>
        </p:blipFill>
        <p:spPr>
          <a:xfrm>
            <a:off x="5376600" y="4151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3" name="Text 26"/>
          <p:cNvSpPr/>
          <p:nvPr/>
        </p:nvSpPr>
        <p:spPr>
          <a:xfrm>
            <a:off x="5742360" y="4133160"/>
            <a:ext cx="28339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Gestion des amendes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4" name="Shape 27"/>
          <p:cNvSpPr/>
          <p:nvPr/>
        </p:nvSpPr>
        <p:spPr>
          <a:xfrm>
            <a:off x="5257800" y="4663440"/>
            <a:ext cx="3382560" cy="474840"/>
          </a:xfrm>
          <a:prstGeom prst="rect">
            <a:avLst/>
          </a:prstGeom>
          <a:solidFill>
            <a:srgbClr val="1a31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Shape 28"/>
          <p:cNvSpPr/>
          <p:nvPr/>
        </p:nvSpPr>
        <p:spPr>
          <a:xfrm>
            <a:off x="5257800" y="4663440"/>
            <a:ext cx="49680" cy="474840"/>
          </a:xfrm>
          <a:prstGeom prst="rect">
            <a:avLst/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6" name="Image 10" descr="preencoded.png"/>
          <p:cNvPicPr/>
          <p:nvPr/>
        </p:nvPicPr>
        <p:blipFill>
          <a:blip r:embed="rId11"/>
          <a:stretch/>
        </p:blipFill>
        <p:spPr>
          <a:xfrm>
            <a:off x="5376600" y="474588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7" name="Text 29"/>
          <p:cNvSpPr/>
          <p:nvPr/>
        </p:nvSpPr>
        <p:spPr>
          <a:xfrm>
            <a:off x="5742360" y="4727520"/>
            <a:ext cx="28339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Swagger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Shape 0"/>
          <p:cNvSpPr/>
          <p:nvPr/>
        </p:nvSpPr>
        <p:spPr>
          <a:xfrm>
            <a:off x="0" y="0"/>
            <a:ext cx="9143280" cy="163800"/>
          </a:xfrm>
          <a:prstGeom prst="rect">
            <a:avLst/>
          </a:prstGeom>
          <a:solidFill>
            <a:srgbClr val="f0b42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Shape 1"/>
          <p:cNvSpPr/>
          <p:nvPr/>
        </p:nvSpPr>
        <p:spPr>
          <a:xfrm>
            <a:off x="0" y="4974480"/>
            <a:ext cx="9143280" cy="163800"/>
          </a:xfrm>
          <a:prstGeom prst="rect">
            <a:avLst/>
          </a:prstGeom>
          <a:solidFill>
            <a:srgbClr val="f0b42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0" name="Image 0" descr="preencoded.png"/>
          <p:cNvPicPr/>
          <p:nvPr/>
        </p:nvPicPr>
        <p:blipFill>
          <a:blip r:embed="rId1">
            <a:alphaModFix amt="80000"/>
          </a:blip>
          <a:stretch/>
        </p:blipFill>
        <p:spPr>
          <a:xfrm>
            <a:off x="3520440" y="457200"/>
            <a:ext cx="2102400" cy="2102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1" name="Text 2"/>
          <p:cNvSpPr/>
          <p:nvPr/>
        </p:nvSpPr>
        <p:spPr>
          <a:xfrm>
            <a:off x="457200" y="2697480"/>
            <a:ext cx="82288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Merci pour votre attention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3"/>
          <p:cNvSpPr/>
          <p:nvPr/>
        </p:nvSpPr>
        <p:spPr>
          <a:xfrm>
            <a:off x="457200" y="3401640"/>
            <a:ext cx="82288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i="1" u="none" strike="noStrike">
                <a:solidFill>
                  <a:srgbClr val="f0b429"/>
                </a:solidFill>
                <a:effectLst/>
                <a:uFillTx/>
                <a:latin typeface="Calibri"/>
                <a:ea typeface="Calibri"/>
              </a:rPr>
              <a:t>Questions &amp; Discussion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4"/>
          <p:cNvSpPr/>
          <p:nvPr/>
        </p:nvSpPr>
        <p:spPr>
          <a:xfrm>
            <a:off x="3200400" y="3913560"/>
            <a:ext cx="2742480" cy="26640"/>
          </a:xfrm>
          <a:prstGeom prst="rect">
            <a:avLst/>
          </a:prstGeom>
          <a:solidFill>
            <a:srgbClr val="243d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7640" bIns="-1764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4" name="Text 5"/>
          <p:cNvSpPr/>
          <p:nvPr/>
        </p:nvSpPr>
        <p:spPr>
          <a:xfrm>
            <a:off x="457200" y="4041720"/>
            <a:ext cx="82288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SUPNUM · Nouakchott · 2025-2026  ·  github.com/mohameden19961/springbootprojet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</TotalTime>
  <Application>LibreOffice/25.8.5.2$Linux_X86_64 LibreOffice_project/580$Build-2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2026-05-20T15:09:15Z</dcterms:created>
  <dc:creator>SupNum 2025-2026</dc:creator>
  <dc:description/>
  <dc:language>en-US</dc:language>
  <cp:lastModifiedBy/>
  <dcterms:modified xsi:type="dcterms:W3CDTF">2026-05-21T00:13:47Z</dcterms:modified>
  <cp:revision>4</cp:revision>
  <dc:subject>PptxGenJS Presentation</dc:subject>
  <dc:title>Système Intelligent de Gestion de Bibliothèque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14</vt:i4>
  </property>
  <property fmtid="{D5CDD505-2E9C-101B-9397-08002B2CF9AE}" pid="3" name="PresentationFormat">
    <vt:lpwstr>On-screen Show (16:9)</vt:lpwstr>
  </property>
  <property fmtid="{D5CDD505-2E9C-101B-9397-08002B2CF9AE}" pid="4" name="Slides">
    <vt:i4>14</vt:i4>
  </property>
</Properties>
</file>